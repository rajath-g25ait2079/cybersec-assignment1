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  <p:sldMasterId id="2147483661" r:id="rId2"/>
  </p:sldMasterIdLst>
  <p:notesMasterIdLst>
    <p:notesMasterId r:id="rId20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eb4d20457b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4" name="Google Shape;54;g3eb4d20457b_2_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eb4d20457b_2_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b4d20457b_2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4" name="Google Shape;74;g3eb4d20457b_2_2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g3eb4d20457b_2_2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b4d20457b_2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5" name="Google Shape;115;g3eb4d20457b_2_6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g3eb4d20457b_2_6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eb4d20457b_2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4" name="Google Shape;154;g3eb4d20457b_2_10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g3eb4d20457b_2_10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eb4d20457b_2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1" name="Google Shape;181;g3eb4d20457b_2_12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g3eb4d20457b_2_12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eb4d20457b_2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8" name="Google Shape;228;g3eb4d20457b_2_17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g3eb4d20457b_2_17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eb4d20457b_2_2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0" name="Google Shape;260;g3eb4d20457b_2_20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g3eb4d20457b_2_20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eb4d20457b_2_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8" name="Google Shape;298;g3eb4d20457b_2_24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g3eb4d20457b_2_24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3eb4d20457b_2_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5" name="Google Shape;425;g3eb4d20457b_2_36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g3eb4d20457b_2_36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3eb4d20457b_2_3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4" name="Google Shape;454;g3eb4d20457b_2_39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g3eb4d20457b_2_39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3eb4d20457b_2_4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3" name="Google Shape;483;g3eb4d20457b_2_42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g3eb4d20457b_2_42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g3eb4d20457b_2_4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5" name="Google Shape;515;g3eb4d20457b_2_45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g3eb4d20457b_2_45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g3eb6223a31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6388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3" name="Google Shape;543;g3eb6223a31a_3_0:notes"/>
          <p:cNvSpPr txBox="1">
            <a:spLocks noGrp="1"/>
          </p:cNvSpPr>
          <p:nvPr>
            <p:ph type="body" idx="1"/>
          </p:nvPr>
        </p:nvSpPr>
        <p:spPr>
          <a:xfrm>
            <a:off x="685800" y="3301238"/>
            <a:ext cx="5486400" cy="27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g3eb6223a31a_3_0:notes"/>
          <p:cNvSpPr txBox="1">
            <a:spLocks noGrp="1"/>
          </p:cNvSpPr>
          <p:nvPr>
            <p:ph type="sldNum" idx="12"/>
          </p:nvPr>
        </p:nvSpPr>
        <p:spPr>
          <a:xfrm>
            <a:off x="3884613" y="651554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eb6223a31a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9" name="Google Shape;589;g3eb6223a31a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png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5"/>
          <p:cNvSpPr/>
          <p:nvPr/>
        </p:nvSpPr>
        <p:spPr>
          <a:xfrm>
            <a:off x="457200" y="548640"/>
            <a:ext cx="64008" cy="128016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5"/>
          <p:cNvSpPr/>
          <p:nvPr/>
        </p:nvSpPr>
        <p:spPr>
          <a:xfrm>
            <a:off x="731520" y="502920"/>
            <a:ext cx="77724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3600"/>
              <a:buFont typeface="Georgia"/>
              <a:buNone/>
            </a:pPr>
            <a:r>
              <a:rPr lang="en" sz="36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SQL Injection Attack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5"/>
          <p:cNvSpPr/>
          <p:nvPr/>
        </p:nvSpPr>
        <p:spPr>
          <a:xfrm>
            <a:off x="731520" y="123444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1600"/>
              <a:buFont typeface="Calibri"/>
              <a:buNone/>
            </a:pPr>
            <a:r>
              <a:rPr lang="en" sz="1600" i="1">
                <a:solidFill>
                  <a:srgbClr val="0E7C86"/>
                </a:solidFill>
                <a:latin typeface="Calibri"/>
                <a:ea typeface="Calibri"/>
                <a:cs typeface="Calibri"/>
                <a:sym typeface="Calibri"/>
              </a:rPr>
              <a:t>A Comprehensive Study on Web Security's Most Persistent Threat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5"/>
          <p:cNvSpPr/>
          <p:nvPr/>
        </p:nvSpPr>
        <p:spPr>
          <a:xfrm>
            <a:off x="731520" y="1920240"/>
            <a:ext cx="3657600" cy="22860"/>
          </a:xfrm>
          <a:prstGeom prst="rect">
            <a:avLst/>
          </a:prstGeom>
          <a:solidFill>
            <a:srgbClr val="B2DFE3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15"/>
          <p:cNvSpPr/>
          <p:nvPr/>
        </p:nvSpPr>
        <p:spPr>
          <a:xfrm>
            <a:off x="731520" y="21031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400"/>
              <a:buFont typeface="Calibri"/>
              <a:buNone/>
            </a:pPr>
            <a:r>
              <a:rPr lang="en" sz="14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Cyber Security  |  IIT Jodhpur | Team </a:t>
            </a:r>
            <a:r>
              <a:rPr lang="en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3" name="Google Shape;63;p1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1525" y="2744003"/>
            <a:ext cx="329328" cy="329328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/>
          <p:nvPr/>
        </p:nvSpPr>
        <p:spPr>
          <a:xfrm>
            <a:off x="1154949" y="2715775"/>
            <a:ext cx="2822700" cy="37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441"/>
              <a:buFont typeface="Georgia"/>
              <a:buNone/>
            </a:pPr>
            <a:r>
              <a:rPr lang="en" sz="1441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Group Members</a:t>
            </a:r>
            <a:endParaRPr sz="144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/>
          <p:nvPr/>
        </p:nvSpPr>
        <p:spPr>
          <a:xfrm>
            <a:off x="731525" y="3214472"/>
            <a:ext cx="3763800" cy="32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235"/>
              <a:buFont typeface="Calibri"/>
              <a:buNone/>
            </a:pPr>
            <a:r>
              <a:rPr lang="en" sz="1235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1.  Khushi Bawistale  (G25AIT2052)</a:t>
            </a:r>
            <a:endParaRPr sz="123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/>
          <p:nvPr/>
        </p:nvSpPr>
        <p:spPr>
          <a:xfrm>
            <a:off x="731525" y="3590847"/>
            <a:ext cx="3763800" cy="32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235"/>
              <a:buFont typeface="Calibri"/>
              <a:buNone/>
            </a:pPr>
            <a:r>
              <a:rPr lang="en" sz="1235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2.  Shashank Jangid  (G25AIT2100)</a:t>
            </a:r>
            <a:endParaRPr sz="123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/>
          <p:nvPr/>
        </p:nvSpPr>
        <p:spPr>
          <a:xfrm>
            <a:off x="731525" y="3967222"/>
            <a:ext cx="3763800" cy="32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235"/>
              <a:buFont typeface="Calibri"/>
              <a:buNone/>
            </a:pPr>
            <a:r>
              <a:rPr lang="en" sz="1235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3.  Rajath S M  (G25AIT2079)</a:t>
            </a:r>
            <a:endParaRPr sz="123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/>
          <p:nvPr/>
        </p:nvSpPr>
        <p:spPr>
          <a:xfrm>
            <a:off x="731525" y="4343597"/>
            <a:ext cx="3763800" cy="32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235"/>
              <a:buFont typeface="Calibri"/>
              <a:buNone/>
            </a:pPr>
            <a:r>
              <a:rPr lang="en" sz="1235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4.  Siddhant Singh  (G25AIT2105)</a:t>
            </a:r>
            <a:endParaRPr sz="123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5"/>
          <p:cNvSpPr/>
          <p:nvPr/>
        </p:nvSpPr>
        <p:spPr>
          <a:xfrm>
            <a:off x="4965760" y="3214472"/>
            <a:ext cx="3763800" cy="32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235"/>
              <a:buFont typeface="Calibri"/>
              <a:buNone/>
            </a:pPr>
            <a:r>
              <a:rPr lang="en" sz="1235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5.  Deepanshu Arora  (G25AIT2029)</a:t>
            </a:r>
            <a:endParaRPr sz="123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5"/>
          <p:cNvSpPr/>
          <p:nvPr/>
        </p:nvSpPr>
        <p:spPr>
          <a:xfrm>
            <a:off x="4965760" y="3590847"/>
            <a:ext cx="3763800" cy="32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235"/>
              <a:buFont typeface="Calibri"/>
              <a:buNone/>
            </a:pPr>
            <a:r>
              <a:rPr lang="en" sz="1235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6.  Soumya A  (G25AIT2111)</a:t>
            </a:r>
            <a:endParaRPr sz="123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4965760" y="3967222"/>
            <a:ext cx="3763800" cy="32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235"/>
              <a:buFont typeface="Calibri"/>
              <a:buNone/>
            </a:pPr>
            <a:r>
              <a:rPr lang="en" sz="1235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7.  Shah Tirth Rajeshkumar  (G25AIT2121)</a:t>
            </a:r>
            <a:endParaRPr sz="123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6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3000"/>
              <a:buFont typeface="Georgia"/>
              <a:buNone/>
            </a:pPr>
            <a:r>
              <a:rPr lang="en" sz="30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Agenda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6"/>
          <p:cNvSpPr/>
          <p:nvPr/>
        </p:nvSpPr>
        <p:spPr>
          <a:xfrm>
            <a:off x="548640" y="841248"/>
            <a:ext cx="2286000" cy="2743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6"/>
          <p:cNvSpPr/>
          <p:nvPr/>
        </p:nvSpPr>
        <p:spPr>
          <a:xfrm>
            <a:off x="676795" y="1029963"/>
            <a:ext cx="274200" cy="274200"/>
          </a:xfrm>
          <a:prstGeom prst="ellipse">
            <a:avLst/>
          </a:prstGeom>
          <a:solidFill>
            <a:srgbClr val="E6F5F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6"/>
          <p:cNvSpPr/>
          <p:nvPr/>
        </p:nvSpPr>
        <p:spPr>
          <a:xfrm>
            <a:off x="676795" y="1029963"/>
            <a:ext cx="2742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900"/>
              <a:buFont typeface="Georgia"/>
              <a:buNone/>
            </a:pPr>
            <a:r>
              <a:rPr lang="en" sz="900" b="1">
                <a:solidFill>
                  <a:srgbClr val="0E7C86"/>
                </a:solidFill>
                <a:latin typeface="Georgia"/>
                <a:ea typeface="Georgia"/>
                <a:cs typeface="Georgia"/>
                <a:sym typeface="Georgia"/>
              </a:rPr>
              <a:t>01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/>
          <p:nvPr/>
        </p:nvSpPr>
        <p:spPr>
          <a:xfrm>
            <a:off x="1088275" y="1011675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400"/>
              <a:buFont typeface="Calibri"/>
              <a:buNone/>
            </a:pPr>
            <a:r>
              <a:rPr lang="en" sz="14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Introduction to SQL Injection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676795" y="1368291"/>
            <a:ext cx="274200" cy="274200"/>
          </a:xfrm>
          <a:prstGeom prst="ellipse">
            <a:avLst/>
          </a:prstGeom>
          <a:solidFill>
            <a:srgbClr val="E6F5F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6"/>
          <p:cNvSpPr/>
          <p:nvPr/>
        </p:nvSpPr>
        <p:spPr>
          <a:xfrm>
            <a:off x="676795" y="1368291"/>
            <a:ext cx="2742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900"/>
              <a:buFont typeface="Georgia"/>
              <a:buNone/>
            </a:pPr>
            <a:r>
              <a:rPr lang="en" sz="900" b="1">
                <a:solidFill>
                  <a:srgbClr val="0E7C86"/>
                </a:solidFill>
                <a:latin typeface="Georgia"/>
                <a:ea typeface="Georgia"/>
                <a:cs typeface="Georgia"/>
                <a:sym typeface="Georgia"/>
              </a:rPr>
              <a:t>02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1088275" y="1350003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400"/>
              <a:buFont typeface="Calibri"/>
              <a:buNone/>
            </a:pPr>
            <a:r>
              <a:rPr lang="en" sz="14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How SQL Injection Works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6"/>
          <p:cNvSpPr/>
          <p:nvPr/>
        </p:nvSpPr>
        <p:spPr>
          <a:xfrm>
            <a:off x="676795" y="1706619"/>
            <a:ext cx="274200" cy="274200"/>
          </a:xfrm>
          <a:prstGeom prst="ellipse">
            <a:avLst/>
          </a:prstGeom>
          <a:solidFill>
            <a:srgbClr val="E6F5F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76795" y="1706619"/>
            <a:ext cx="2742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900"/>
              <a:buFont typeface="Georgia"/>
              <a:buNone/>
            </a:pPr>
            <a:r>
              <a:rPr lang="en" sz="900" b="1">
                <a:solidFill>
                  <a:srgbClr val="0E7C86"/>
                </a:solidFill>
                <a:latin typeface="Georgia"/>
                <a:ea typeface="Georgia"/>
                <a:cs typeface="Georgia"/>
                <a:sym typeface="Georgia"/>
              </a:rPr>
              <a:t>03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6"/>
          <p:cNvSpPr/>
          <p:nvPr/>
        </p:nvSpPr>
        <p:spPr>
          <a:xfrm>
            <a:off x="1088275" y="1688331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400"/>
              <a:buFont typeface="Calibri"/>
              <a:buNone/>
            </a:pPr>
            <a:r>
              <a:rPr lang="en" sz="14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Types of SQL Injection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6"/>
          <p:cNvSpPr/>
          <p:nvPr/>
        </p:nvSpPr>
        <p:spPr>
          <a:xfrm>
            <a:off x="676795" y="2044947"/>
            <a:ext cx="274200" cy="274200"/>
          </a:xfrm>
          <a:prstGeom prst="ellipse">
            <a:avLst/>
          </a:prstGeom>
          <a:solidFill>
            <a:srgbClr val="E6F5F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6"/>
          <p:cNvSpPr/>
          <p:nvPr/>
        </p:nvSpPr>
        <p:spPr>
          <a:xfrm>
            <a:off x="676795" y="2044947"/>
            <a:ext cx="2742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900"/>
              <a:buFont typeface="Georgia"/>
              <a:buNone/>
            </a:pPr>
            <a:r>
              <a:rPr lang="en" sz="900" b="1">
                <a:solidFill>
                  <a:srgbClr val="0E7C86"/>
                </a:solidFill>
                <a:latin typeface="Georgia"/>
                <a:ea typeface="Georgia"/>
                <a:cs typeface="Georgia"/>
                <a:sym typeface="Georgia"/>
              </a:rPr>
              <a:t>04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6"/>
          <p:cNvSpPr/>
          <p:nvPr/>
        </p:nvSpPr>
        <p:spPr>
          <a:xfrm>
            <a:off x="1088275" y="2026659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400"/>
              <a:buFont typeface="Calibri"/>
              <a:buNone/>
            </a:pPr>
            <a:r>
              <a:rPr lang="en" sz="14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Real-World Breaches &amp; Impact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6"/>
          <p:cNvSpPr/>
          <p:nvPr/>
        </p:nvSpPr>
        <p:spPr>
          <a:xfrm>
            <a:off x="676795" y="2383275"/>
            <a:ext cx="274200" cy="274200"/>
          </a:xfrm>
          <a:prstGeom prst="ellipse">
            <a:avLst/>
          </a:prstGeom>
          <a:solidFill>
            <a:srgbClr val="E6F5F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6"/>
          <p:cNvSpPr/>
          <p:nvPr/>
        </p:nvSpPr>
        <p:spPr>
          <a:xfrm>
            <a:off x="676795" y="2383275"/>
            <a:ext cx="2742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900"/>
              <a:buFont typeface="Georgia"/>
              <a:buNone/>
            </a:pPr>
            <a:r>
              <a:rPr lang="en" sz="900" b="1">
                <a:solidFill>
                  <a:srgbClr val="0E7C86"/>
                </a:solidFill>
                <a:latin typeface="Georgia"/>
                <a:ea typeface="Georgia"/>
                <a:cs typeface="Georgia"/>
                <a:sym typeface="Georgia"/>
              </a:rPr>
              <a:t>05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1088275" y="2364987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400"/>
              <a:buFont typeface="Calibri"/>
              <a:buNone/>
            </a:pPr>
            <a:r>
              <a:rPr lang="en" sz="14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Attack Methodology Deep Dive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6"/>
          <p:cNvSpPr/>
          <p:nvPr/>
        </p:nvSpPr>
        <p:spPr>
          <a:xfrm>
            <a:off x="676795" y="2721603"/>
            <a:ext cx="274200" cy="274200"/>
          </a:xfrm>
          <a:prstGeom prst="ellipse">
            <a:avLst/>
          </a:prstGeom>
          <a:solidFill>
            <a:srgbClr val="E6F5F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6"/>
          <p:cNvSpPr/>
          <p:nvPr/>
        </p:nvSpPr>
        <p:spPr>
          <a:xfrm>
            <a:off x="676795" y="2721603"/>
            <a:ext cx="2742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900"/>
              <a:buFont typeface="Georgia"/>
              <a:buNone/>
            </a:pPr>
            <a:r>
              <a:rPr lang="en" sz="900" b="1">
                <a:solidFill>
                  <a:srgbClr val="0E7C86"/>
                </a:solidFill>
                <a:latin typeface="Georgia"/>
                <a:ea typeface="Georgia"/>
                <a:cs typeface="Georgia"/>
                <a:sym typeface="Georgia"/>
              </a:rPr>
              <a:t>06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1088275" y="2703315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400"/>
              <a:buFont typeface="Calibri"/>
              <a:buNone/>
            </a:pPr>
            <a:r>
              <a:rPr lang="en" sz="14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How ’ OR 1=1 -- Works Internally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6"/>
          <p:cNvSpPr/>
          <p:nvPr/>
        </p:nvSpPr>
        <p:spPr>
          <a:xfrm>
            <a:off x="676795" y="3059931"/>
            <a:ext cx="274200" cy="274200"/>
          </a:xfrm>
          <a:prstGeom prst="ellipse">
            <a:avLst/>
          </a:prstGeom>
          <a:solidFill>
            <a:srgbClr val="E6F5F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6"/>
          <p:cNvSpPr/>
          <p:nvPr/>
        </p:nvSpPr>
        <p:spPr>
          <a:xfrm>
            <a:off x="676795" y="3059931"/>
            <a:ext cx="2742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900"/>
              <a:buFont typeface="Georgia"/>
              <a:buNone/>
            </a:pPr>
            <a:r>
              <a:rPr lang="en" sz="900" b="1">
                <a:solidFill>
                  <a:srgbClr val="0E7C86"/>
                </a:solidFill>
                <a:latin typeface="Georgia"/>
                <a:ea typeface="Georgia"/>
                <a:cs typeface="Georgia"/>
                <a:sym typeface="Georgia"/>
              </a:rPr>
              <a:t>07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1088275" y="3041643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400"/>
              <a:buFont typeface="Calibri"/>
              <a:buNone/>
            </a:pPr>
            <a:r>
              <a:rPr lang="en" sz="14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Breaking Down Each Character’s Role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676795" y="3398259"/>
            <a:ext cx="274200" cy="274200"/>
          </a:xfrm>
          <a:prstGeom prst="ellipse">
            <a:avLst/>
          </a:prstGeom>
          <a:solidFill>
            <a:srgbClr val="E6F5F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676795" y="3398259"/>
            <a:ext cx="2742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900"/>
              <a:buFont typeface="Georgia"/>
              <a:buNone/>
            </a:pPr>
            <a:r>
              <a:rPr lang="en" sz="900" b="1">
                <a:solidFill>
                  <a:srgbClr val="0E7C86"/>
                </a:solidFill>
                <a:latin typeface="Georgia"/>
                <a:ea typeface="Georgia"/>
                <a:cs typeface="Georgia"/>
                <a:sym typeface="Georgia"/>
              </a:rPr>
              <a:t>08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1088275" y="3379971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400"/>
              <a:buFont typeface="Calibri"/>
              <a:buNone/>
            </a:pPr>
            <a:r>
              <a:rPr lang="en" sz="14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How the Database Evaluates the Query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6"/>
          <p:cNvSpPr/>
          <p:nvPr/>
        </p:nvSpPr>
        <p:spPr>
          <a:xfrm>
            <a:off x="676795" y="3736587"/>
            <a:ext cx="274200" cy="274200"/>
          </a:xfrm>
          <a:prstGeom prst="ellipse">
            <a:avLst/>
          </a:prstGeom>
          <a:solidFill>
            <a:srgbClr val="E6F5F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6"/>
          <p:cNvSpPr/>
          <p:nvPr/>
        </p:nvSpPr>
        <p:spPr>
          <a:xfrm>
            <a:off x="676795" y="3736587"/>
            <a:ext cx="2742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900"/>
              <a:buFont typeface="Georgia"/>
              <a:buNone/>
            </a:pPr>
            <a:r>
              <a:rPr lang="en" sz="900" b="1">
                <a:solidFill>
                  <a:srgbClr val="0E7C86"/>
                </a:solidFill>
                <a:latin typeface="Georgia"/>
                <a:ea typeface="Georgia"/>
                <a:cs typeface="Georgia"/>
                <a:sym typeface="Georgia"/>
              </a:rPr>
              <a:t>09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6"/>
          <p:cNvSpPr/>
          <p:nvPr/>
        </p:nvSpPr>
        <p:spPr>
          <a:xfrm>
            <a:off x="1088275" y="3718299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400"/>
              <a:buFont typeface="Calibri"/>
              <a:buNone/>
            </a:pPr>
            <a:r>
              <a:rPr lang="en" sz="14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Countermeasures &amp; Defense Strategies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6"/>
          <p:cNvSpPr/>
          <p:nvPr/>
        </p:nvSpPr>
        <p:spPr>
          <a:xfrm>
            <a:off x="676795" y="4074915"/>
            <a:ext cx="274200" cy="274200"/>
          </a:xfrm>
          <a:prstGeom prst="ellipse">
            <a:avLst/>
          </a:prstGeom>
          <a:solidFill>
            <a:srgbClr val="E6F5F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6"/>
          <p:cNvSpPr/>
          <p:nvPr/>
        </p:nvSpPr>
        <p:spPr>
          <a:xfrm>
            <a:off x="676795" y="4074915"/>
            <a:ext cx="2742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900"/>
              <a:buFont typeface="Georgia"/>
              <a:buNone/>
            </a:pPr>
            <a:r>
              <a:rPr lang="en" sz="900" b="1">
                <a:solidFill>
                  <a:srgbClr val="0E7C86"/>
                </a:solidFill>
                <a:latin typeface="Georgia"/>
                <a:ea typeface="Georgia"/>
                <a:cs typeface="Georgia"/>
                <a:sym typeface="Georgia"/>
              </a:rPr>
              <a:t>10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6"/>
          <p:cNvSpPr/>
          <p:nvPr/>
        </p:nvSpPr>
        <p:spPr>
          <a:xfrm>
            <a:off x="1088275" y="4056627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400"/>
              <a:buFont typeface="Calibri"/>
              <a:buNone/>
            </a:pPr>
            <a:r>
              <a:rPr lang="en" sz="14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Secure Coding Best Practices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6"/>
          <p:cNvSpPr/>
          <p:nvPr/>
        </p:nvSpPr>
        <p:spPr>
          <a:xfrm>
            <a:off x="676795" y="4413243"/>
            <a:ext cx="274200" cy="274200"/>
          </a:xfrm>
          <a:prstGeom prst="ellipse">
            <a:avLst/>
          </a:prstGeom>
          <a:solidFill>
            <a:srgbClr val="E6F5F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6"/>
          <p:cNvSpPr/>
          <p:nvPr/>
        </p:nvSpPr>
        <p:spPr>
          <a:xfrm>
            <a:off x="676795" y="4413243"/>
            <a:ext cx="2742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900"/>
              <a:buFont typeface="Georgia"/>
              <a:buNone/>
            </a:pPr>
            <a:r>
              <a:rPr lang="en" sz="900" b="1">
                <a:solidFill>
                  <a:srgbClr val="0E7C86"/>
                </a:solidFill>
                <a:latin typeface="Georgia"/>
                <a:ea typeface="Georgia"/>
                <a:cs typeface="Georgia"/>
                <a:sym typeface="Georgia"/>
              </a:rPr>
              <a:t>11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6"/>
          <p:cNvSpPr/>
          <p:nvPr/>
        </p:nvSpPr>
        <p:spPr>
          <a:xfrm>
            <a:off x="1088275" y="4394955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400"/>
              <a:buFont typeface="Calibri"/>
              <a:buNone/>
            </a:pPr>
            <a:r>
              <a:rPr lang="en" sz="14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Key Takeaways &amp; References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7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7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3000"/>
              <a:buFont typeface="Georgia"/>
              <a:buNone/>
            </a:pPr>
            <a:r>
              <a:rPr lang="en" sz="30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What is SQL Injection?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7"/>
          <p:cNvSpPr/>
          <p:nvPr/>
        </p:nvSpPr>
        <p:spPr>
          <a:xfrm>
            <a:off x="548640" y="841248"/>
            <a:ext cx="2286000" cy="2743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7"/>
          <p:cNvSpPr/>
          <p:nvPr/>
        </p:nvSpPr>
        <p:spPr>
          <a:xfrm>
            <a:off x="548640" y="1097280"/>
            <a:ext cx="5303520" cy="155448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7"/>
          <p:cNvSpPr/>
          <p:nvPr/>
        </p:nvSpPr>
        <p:spPr>
          <a:xfrm>
            <a:off x="548640" y="1097280"/>
            <a:ext cx="54864" cy="15544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3" name="Google Shape;123;p1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7240" y="12344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7"/>
          <p:cNvSpPr/>
          <p:nvPr/>
        </p:nvSpPr>
        <p:spPr>
          <a:xfrm>
            <a:off x="1188720" y="1188720"/>
            <a:ext cx="43891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1600"/>
              <a:buFont typeface="Georgia"/>
              <a:buNone/>
            </a:pPr>
            <a:r>
              <a:rPr lang="en" sz="1600" b="1">
                <a:solidFill>
                  <a:srgbClr val="0E7C86"/>
                </a:solidFill>
                <a:latin typeface="Georgia"/>
                <a:ea typeface="Georgia"/>
                <a:cs typeface="Georgia"/>
                <a:sym typeface="Georgia"/>
              </a:rPr>
              <a:t>Definition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/>
          <p:nvPr/>
        </p:nvSpPr>
        <p:spPr>
          <a:xfrm>
            <a:off x="777240" y="1627632"/>
            <a:ext cx="48463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SQL Injection (SQLi) is a code injection technique that exploits vulnerabilities in an application's database layer. Attackers insert malicious SQL statements into input fields, tricking the application into executing unintended commands on the database.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7"/>
          <p:cNvSpPr/>
          <p:nvPr/>
        </p:nvSpPr>
        <p:spPr>
          <a:xfrm>
            <a:off x="6126480" y="1097280"/>
            <a:ext cx="2560320" cy="685800"/>
          </a:xfrm>
          <a:prstGeom prst="rect">
            <a:avLst/>
          </a:prstGeom>
          <a:solidFill>
            <a:srgbClr val="E6F5F6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7"/>
          <p:cNvSpPr/>
          <p:nvPr/>
        </p:nvSpPr>
        <p:spPr>
          <a:xfrm>
            <a:off x="6263640" y="1115568"/>
            <a:ext cx="10972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3200"/>
              <a:buFont typeface="Georgia"/>
              <a:buNone/>
            </a:pPr>
            <a:r>
              <a:rPr lang="en" sz="3200" b="1">
                <a:solidFill>
                  <a:srgbClr val="0E7C86"/>
                </a:solidFill>
                <a:latin typeface="Georgia"/>
                <a:ea typeface="Georgia"/>
                <a:cs typeface="Georgia"/>
                <a:sym typeface="Georgia"/>
              </a:rPr>
              <a:t>26%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7"/>
          <p:cNvSpPr/>
          <p:nvPr/>
        </p:nvSpPr>
        <p:spPr>
          <a:xfrm>
            <a:off x="7315200" y="1188720"/>
            <a:ext cx="12801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of all data breaches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in 2024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7"/>
          <p:cNvSpPr/>
          <p:nvPr/>
        </p:nvSpPr>
        <p:spPr>
          <a:xfrm>
            <a:off x="6126480" y="1920240"/>
            <a:ext cx="2560320" cy="685800"/>
          </a:xfrm>
          <a:prstGeom prst="rect">
            <a:avLst/>
          </a:prstGeom>
          <a:solidFill>
            <a:srgbClr val="E6F5F6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6263640" y="1938528"/>
            <a:ext cx="12801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2800"/>
              <a:buFont typeface="Georgia"/>
              <a:buNone/>
            </a:pPr>
            <a:r>
              <a:rPr lang="en" sz="2800" b="1">
                <a:solidFill>
                  <a:srgbClr val="0E7C86"/>
                </a:solidFill>
                <a:latin typeface="Georgia"/>
                <a:ea typeface="Georgia"/>
                <a:cs typeface="Georgia"/>
                <a:sym typeface="Georgia"/>
              </a:rPr>
              <a:t>2,600+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/>
          <p:nvPr/>
        </p:nvSpPr>
        <p:spPr>
          <a:xfrm>
            <a:off x="7498080" y="2011680"/>
            <a:ext cx="10972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SQLi CVEs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in 2025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7"/>
          <p:cNvSpPr/>
          <p:nvPr/>
        </p:nvSpPr>
        <p:spPr>
          <a:xfrm>
            <a:off x="548640" y="28803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500"/>
              <a:buFont typeface="Georgia"/>
              <a:buNone/>
            </a:pPr>
            <a:r>
              <a:rPr lang="en" sz="15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How the Attack Flows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548640" y="3337560"/>
            <a:ext cx="1920240" cy="128016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0160" y="342900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7"/>
          <p:cNvSpPr/>
          <p:nvPr/>
        </p:nvSpPr>
        <p:spPr>
          <a:xfrm>
            <a:off x="640080" y="3822192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200"/>
              <a:buFont typeface="Georgia"/>
              <a:buNone/>
            </a:pPr>
            <a:r>
              <a:rPr lang="en" sz="12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Attacker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640080" y="4069080"/>
            <a:ext cx="1737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Crafts malicious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SQL payload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7" name="Google Shape;137;p1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514600" y="374904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7"/>
          <p:cNvSpPr/>
          <p:nvPr/>
        </p:nvSpPr>
        <p:spPr>
          <a:xfrm>
            <a:off x="2743200" y="3337560"/>
            <a:ext cx="1920240" cy="128016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9" name="Google Shape;139;p17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474720" y="342900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7"/>
          <p:cNvSpPr/>
          <p:nvPr/>
        </p:nvSpPr>
        <p:spPr>
          <a:xfrm>
            <a:off x="2834640" y="3822192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200"/>
              <a:buFont typeface="Georgia"/>
              <a:buNone/>
            </a:pPr>
            <a:r>
              <a:rPr lang="en" sz="12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Web App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2834640" y="4069080"/>
            <a:ext cx="1737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Passes unsanitized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input to query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" name="Google Shape;142;p1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09160" y="374904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7"/>
          <p:cNvSpPr/>
          <p:nvPr/>
        </p:nvSpPr>
        <p:spPr>
          <a:xfrm>
            <a:off x="4937760" y="3337560"/>
            <a:ext cx="1920240" cy="128016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4" name="Google Shape;144;p17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669280" y="342900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7"/>
          <p:cNvSpPr/>
          <p:nvPr/>
        </p:nvSpPr>
        <p:spPr>
          <a:xfrm>
            <a:off x="5029200" y="3822192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200"/>
              <a:buFont typeface="Georgia"/>
              <a:buNone/>
            </a:pPr>
            <a:r>
              <a:rPr lang="en" sz="12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Database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/>
          <p:nvPr/>
        </p:nvSpPr>
        <p:spPr>
          <a:xfrm>
            <a:off x="5029200" y="4069080"/>
            <a:ext cx="1737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Executes the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injected SQL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7" name="Google Shape;147;p1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903720" y="374904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7"/>
          <p:cNvSpPr/>
          <p:nvPr/>
        </p:nvSpPr>
        <p:spPr>
          <a:xfrm>
            <a:off x="7132320" y="3337560"/>
            <a:ext cx="1920240" cy="128016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9" name="Google Shape;149;p17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863840" y="342900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7"/>
          <p:cNvSpPr/>
          <p:nvPr/>
        </p:nvSpPr>
        <p:spPr>
          <a:xfrm>
            <a:off x="7223760" y="3822192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200"/>
              <a:buFont typeface="Georgia"/>
              <a:buNone/>
            </a:pPr>
            <a:r>
              <a:rPr lang="en" sz="12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Data Leaked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7223760" y="4069080"/>
            <a:ext cx="1737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Sensitive data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exfiltrated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8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8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3000"/>
              <a:buFont typeface="Georgia"/>
              <a:buNone/>
            </a:pPr>
            <a:r>
              <a:rPr lang="en" sz="30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How SQL Injection Works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8"/>
          <p:cNvSpPr/>
          <p:nvPr/>
        </p:nvSpPr>
        <p:spPr>
          <a:xfrm>
            <a:off x="548640" y="841248"/>
            <a:ext cx="2286000" cy="2743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8"/>
          <p:cNvSpPr/>
          <p:nvPr/>
        </p:nvSpPr>
        <p:spPr>
          <a:xfrm>
            <a:off x="548640" y="1097280"/>
            <a:ext cx="3840480" cy="182880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8"/>
          <p:cNvSpPr/>
          <p:nvPr/>
        </p:nvSpPr>
        <p:spPr>
          <a:xfrm>
            <a:off x="548640" y="1097280"/>
            <a:ext cx="3840480" cy="54864"/>
          </a:xfrm>
          <a:prstGeom prst="rect">
            <a:avLst/>
          </a:prstGeom>
          <a:solidFill>
            <a:srgbClr val="1A9E5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2" name="Google Shape;162;p1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1520" y="128016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8"/>
          <p:cNvSpPr/>
          <p:nvPr/>
        </p:nvSpPr>
        <p:spPr>
          <a:xfrm>
            <a:off x="1097280" y="1252728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9E5C"/>
              </a:buClr>
              <a:buSzPts val="1400"/>
              <a:buFont typeface="Georgia"/>
              <a:buNone/>
            </a:pPr>
            <a:r>
              <a:rPr lang="en" sz="1400" b="1">
                <a:solidFill>
                  <a:srgbClr val="1A9E5C"/>
                </a:solidFill>
                <a:latin typeface="Georgia"/>
                <a:ea typeface="Georgia"/>
                <a:cs typeface="Georgia"/>
                <a:sym typeface="Georgia"/>
              </a:rPr>
              <a:t>Normal Login Query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8"/>
          <p:cNvSpPr/>
          <p:nvPr/>
        </p:nvSpPr>
        <p:spPr>
          <a:xfrm>
            <a:off x="731520" y="1691640"/>
            <a:ext cx="3474720" cy="3657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8"/>
          <p:cNvSpPr/>
          <p:nvPr/>
        </p:nvSpPr>
        <p:spPr>
          <a:xfrm>
            <a:off x="822960" y="169164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9E5C"/>
              </a:buClr>
              <a:buSzPts val="1100"/>
              <a:buFont typeface="Consolas"/>
              <a:buNone/>
            </a:pPr>
            <a:r>
              <a:rPr lang="en" sz="1100">
                <a:solidFill>
                  <a:srgbClr val="1A9E5C"/>
                </a:solidFill>
                <a:latin typeface="Consolas"/>
                <a:ea typeface="Consolas"/>
                <a:cs typeface="Consolas"/>
                <a:sym typeface="Consolas"/>
              </a:rPr>
              <a:t>User input:  admin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8"/>
          <p:cNvSpPr/>
          <p:nvPr/>
        </p:nvSpPr>
        <p:spPr>
          <a:xfrm>
            <a:off x="731520" y="2148840"/>
            <a:ext cx="3474720" cy="6400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8"/>
          <p:cNvSpPr/>
          <p:nvPr/>
        </p:nvSpPr>
        <p:spPr>
          <a:xfrm>
            <a:off x="822960" y="2194560"/>
            <a:ext cx="32918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1100"/>
              <a:buFont typeface="Consolas"/>
              <a:buNone/>
            </a:pPr>
            <a:r>
              <a:rPr lang="en" sz="1100">
                <a:solidFill>
                  <a:srgbClr val="0E7C86"/>
                </a:solidFill>
                <a:latin typeface="Consolas"/>
                <a:ea typeface="Consolas"/>
                <a:cs typeface="Consolas"/>
                <a:sym typeface="Consolas"/>
              </a:rPr>
              <a:t>SELECT * FROM users</a:t>
            </a:r>
            <a:br>
              <a:rPr lang="en" sz="1100">
                <a:solidFill>
                  <a:srgbClr val="0E7C86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100"/>
              <a:buFont typeface="Consolas"/>
              <a:buNone/>
            </a:pPr>
            <a:r>
              <a:rPr lang="en" sz="1100">
                <a:solidFill>
                  <a:srgbClr val="2D3748"/>
                </a:solidFill>
                <a:latin typeface="Consolas"/>
                <a:ea typeface="Consolas"/>
                <a:cs typeface="Consolas"/>
                <a:sym typeface="Consolas"/>
              </a:rPr>
              <a:t>WHERE name = 'admin'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4754880" y="1097280"/>
            <a:ext cx="3840480" cy="182880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4754880" y="1097280"/>
            <a:ext cx="3840480" cy="54864"/>
          </a:xfrm>
          <a:prstGeom prst="rect">
            <a:avLst/>
          </a:prstGeom>
          <a:solidFill>
            <a:srgbClr val="E8870E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0" name="Google Shape;170;p1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37760" y="128016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8"/>
          <p:cNvSpPr/>
          <p:nvPr/>
        </p:nvSpPr>
        <p:spPr>
          <a:xfrm>
            <a:off x="5303520" y="1252728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70E"/>
              </a:buClr>
              <a:buSzPts val="1400"/>
              <a:buFont typeface="Georgia"/>
              <a:buNone/>
            </a:pPr>
            <a:r>
              <a:rPr lang="en" sz="1400" b="1">
                <a:solidFill>
                  <a:srgbClr val="E8870E"/>
                </a:solidFill>
                <a:latin typeface="Georgia"/>
                <a:ea typeface="Georgia"/>
                <a:cs typeface="Georgia"/>
                <a:sym typeface="Georgia"/>
              </a:rPr>
              <a:t>Injected Malicious Query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4937760" y="1691640"/>
            <a:ext cx="3474720" cy="3657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8"/>
          <p:cNvSpPr/>
          <p:nvPr/>
        </p:nvSpPr>
        <p:spPr>
          <a:xfrm>
            <a:off x="5029200" y="169164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70E"/>
              </a:buClr>
              <a:buSzPts val="1100"/>
              <a:buFont typeface="Consolas"/>
              <a:buNone/>
            </a:pPr>
            <a:r>
              <a:rPr lang="en" sz="1100">
                <a:solidFill>
                  <a:srgbClr val="E8870E"/>
                </a:solidFill>
                <a:latin typeface="Consolas"/>
                <a:ea typeface="Consolas"/>
                <a:cs typeface="Consolas"/>
                <a:sym typeface="Consolas"/>
              </a:rPr>
              <a:t>User input:  ' OR '1'='1' --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4937760" y="2148840"/>
            <a:ext cx="3474720" cy="6400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8"/>
          <p:cNvSpPr/>
          <p:nvPr/>
        </p:nvSpPr>
        <p:spPr>
          <a:xfrm>
            <a:off x="5029200" y="2194560"/>
            <a:ext cx="32918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1100"/>
              <a:buFont typeface="Consolas"/>
              <a:buNone/>
            </a:pPr>
            <a:r>
              <a:rPr lang="en" sz="1100">
                <a:solidFill>
                  <a:srgbClr val="0E7C86"/>
                </a:solidFill>
                <a:latin typeface="Consolas"/>
                <a:ea typeface="Consolas"/>
                <a:cs typeface="Consolas"/>
                <a:sym typeface="Consolas"/>
              </a:rPr>
              <a:t>SELECT * FROM users</a:t>
            </a:r>
            <a:br>
              <a:rPr lang="en" sz="1100">
                <a:solidFill>
                  <a:srgbClr val="0E7C86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70E"/>
              </a:buClr>
              <a:buSzPts val="1100"/>
              <a:buFont typeface="Consolas"/>
              <a:buNone/>
            </a:pPr>
            <a:r>
              <a:rPr lang="en" sz="1100">
                <a:solidFill>
                  <a:srgbClr val="E8870E"/>
                </a:solidFill>
                <a:latin typeface="Consolas"/>
                <a:ea typeface="Consolas"/>
                <a:cs typeface="Consolas"/>
                <a:sym typeface="Consolas"/>
              </a:rPr>
              <a:t>WHERE name='' OR '1'='1' --'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8"/>
          <p:cNvSpPr/>
          <p:nvPr/>
        </p:nvSpPr>
        <p:spPr>
          <a:xfrm>
            <a:off x="548640" y="32004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500"/>
              <a:buFont typeface="Georgia"/>
              <a:buNone/>
            </a:pPr>
            <a:r>
              <a:rPr lang="en" sz="15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Why Does This Work?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8"/>
          <p:cNvSpPr/>
          <p:nvPr/>
        </p:nvSpPr>
        <p:spPr>
          <a:xfrm>
            <a:off x="548640" y="3611880"/>
            <a:ext cx="8046720" cy="105156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8"/>
          <p:cNvSpPr/>
          <p:nvPr/>
        </p:nvSpPr>
        <p:spPr>
          <a:xfrm>
            <a:off x="731520" y="3657600"/>
            <a:ext cx="768096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The application concatenates user input directly into the SQL query string without sanitization.</a:t>
            </a:r>
            <a:br>
              <a:rPr lang="en" sz="12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The injected  ' OR '1'='1'  condition always evaluates to TRUE, returning all rows.</a:t>
            </a:r>
            <a:br>
              <a:rPr lang="en" sz="12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200"/>
              <a:buFont typeface="Calibri"/>
              <a:buNone/>
            </a:pPr>
            <a:r>
              <a:rPr lang="en" sz="12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The double dash  --  comments out the remaining SQL, preventing syntax errors.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9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9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3000"/>
              <a:buFont typeface="Georgia"/>
              <a:buNone/>
            </a:pPr>
            <a:r>
              <a:rPr lang="en" sz="30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Types of SQL Injection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9"/>
          <p:cNvSpPr/>
          <p:nvPr/>
        </p:nvSpPr>
        <p:spPr>
          <a:xfrm>
            <a:off x="548640" y="841248"/>
            <a:ext cx="2286000" cy="2743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9"/>
          <p:cNvSpPr/>
          <p:nvPr/>
        </p:nvSpPr>
        <p:spPr>
          <a:xfrm>
            <a:off x="457200" y="1097280"/>
            <a:ext cx="2651760" cy="361188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9"/>
          <p:cNvSpPr/>
          <p:nvPr/>
        </p:nvSpPr>
        <p:spPr>
          <a:xfrm>
            <a:off x="457200" y="1097280"/>
            <a:ext cx="2651760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9" name="Google Shape;189;p1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08760" y="1325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9"/>
          <p:cNvSpPr/>
          <p:nvPr/>
        </p:nvSpPr>
        <p:spPr>
          <a:xfrm>
            <a:off x="548640" y="182880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1500"/>
              <a:buFont typeface="Georgia"/>
              <a:buNone/>
            </a:pPr>
            <a:r>
              <a:rPr lang="en" sz="1500" b="1">
                <a:solidFill>
                  <a:srgbClr val="0E7C86"/>
                </a:solidFill>
                <a:latin typeface="Georgia"/>
                <a:ea typeface="Georgia"/>
                <a:cs typeface="Georgia"/>
                <a:sym typeface="Georgia"/>
              </a:rPr>
              <a:t>In-Band SQLi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9"/>
          <p:cNvSpPr/>
          <p:nvPr/>
        </p:nvSpPr>
        <p:spPr>
          <a:xfrm>
            <a:off x="594360" y="2148840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900"/>
              <a:buFont typeface="Calibri"/>
              <a:buNone/>
            </a:pPr>
            <a:r>
              <a:rPr lang="en" sz="900" i="1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Most common type. Results are visible directly in the web response.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548640" y="2788920"/>
            <a:ext cx="246888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548640" y="2788920"/>
            <a:ext cx="45720" cy="82296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685800" y="2834640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00"/>
              <a:buFont typeface="Georgia"/>
              <a:buNone/>
            </a:pPr>
            <a:r>
              <a:rPr lang="en" sz="11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Error-Based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9"/>
          <p:cNvSpPr/>
          <p:nvPr/>
        </p:nvSpPr>
        <p:spPr>
          <a:xfrm>
            <a:off x="685800" y="310896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900"/>
              <a:buFont typeface="Calibri"/>
              <a:buNone/>
            </a:pPr>
            <a:r>
              <a:rPr lang="en" sz="9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Forces DB errors to leak schema info such as table and column names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9"/>
          <p:cNvSpPr/>
          <p:nvPr/>
        </p:nvSpPr>
        <p:spPr>
          <a:xfrm>
            <a:off x="548640" y="3749040"/>
            <a:ext cx="246888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9"/>
          <p:cNvSpPr/>
          <p:nvPr/>
        </p:nvSpPr>
        <p:spPr>
          <a:xfrm>
            <a:off x="548640" y="3749040"/>
            <a:ext cx="45720" cy="82296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9"/>
          <p:cNvSpPr/>
          <p:nvPr/>
        </p:nvSpPr>
        <p:spPr>
          <a:xfrm>
            <a:off x="685800" y="3794760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00"/>
              <a:buFont typeface="Georgia"/>
              <a:buNone/>
            </a:pPr>
            <a:r>
              <a:rPr lang="en" sz="11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Union-Based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9"/>
          <p:cNvSpPr/>
          <p:nvPr/>
        </p:nvSpPr>
        <p:spPr>
          <a:xfrm>
            <a:off x="685800" y="406908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900"/>
              <a:buFont typeface="Calibri"/>
              <a:buNone/>
            </a:pPr>
            <a:r>
              <a:rPr lang="en" sz="9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Uses UNION operator to combine malicious results with legitimate query output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9"/>
          <p:cNvSpPr/>
          <p:nvPr/>
        </p:nvSpPr>
        <p:spPr>
          <a:xfrm>
            <a:off x="3337560" y="1097280"/>
            <a:ext cx="2651760" cy="361188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9"/>
          <p:cNvSpPr/>
          <p:nvPr/>
        </p:nvSpPr>
        <p:spPr>
          <a:xfrm>
            <a:off x="3337560" y="1097280"/>
            <a:ext cx="2651760" cy="54864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2" name="Google Shape;202;p1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89120" y="1325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19"/>
          <p:cNvSpPr/>
          <p:nvPr/>
        </p:nvSpPr>
        <p:spPr>
          <a:xfrm>
            <a:off x="3429000" y="182880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C5CE7"/>
              </a:buClr>
              <a:buSzPts val="1500"/>
              <a:buFont typeface="Georgia"/>
              <a:buNone/>
            </a:pPr>
            <a:r>
              <a:rPr lang="en" sz="1500" b="1">
                <a:solidFill>
                  <a:srgbClr val="6C5CE7"/>
                </a:solidFill>
                <a:latin typeface="Georgia"/>
                <a:ea typeface="Georgia"/>
                <a:cs typeface="Georgia"/>
                <a:sym typeface="Georgia"/>
              </a:rPr>
              <a:t>Blind SQLi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9"/>
          <p:cNvSpPr/>
          <p:nvPr/>
        </p:nvSpPr>
        <p:spPr>
          <a:xfrm>
            <a:off x="3474720" y="2148840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900"/>
              <a:buFont typeface="Calibri"/>
              <a:buNone/>
            </a:pPr>
            <a:r>
              <a:rPr lang="en" sz="900" i="1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No visible output. Data inferred from app behavior or response timing.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9"/>
          <p:cNvSpPr/>
          <p:nvPr/>
        </p:nvSpPr>
        <p:spPr>
          <a:xfrm>
            <a:off x="3429000" y="2788920"/>
            <a:ext cx="246888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9"/>
          <p:cNvSpPr/>
          <p:nvPr/>
        </p:nvSpPr>
        <p:spPr>
          <a:xfrm>
            <a:off x="3429000" y="2788920"/>
            <a:ext cx="45720" cy="8229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9"/>
          <p:cNvSpPr/>
          <p:nvPr/>
        </p:nvSpPr>
        <p:spPr>
          <a:xfrm>
            <a:off x="3566160" y="2834640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00"/>
              <a:buFont typeface="Georgia"/>
              <a:buNone/>
            </a:pPr>
            <a:r>
              <a:rPr lang="en" sz="11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Boolean-Based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9"/>
          <p:cNvSpPr/>
          <p:nvPr/>
        </p:nvSpPr>
        <p:spPr>
          <a:xfrm>
            <a:off x="3566160" y="310896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900"/>
              <a:buFont typeface="Calibri"/>
              <a:buNone/>
            </a:pPr>
            <a:r>
              <a:rPr lang="en" sz="9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Sends true/false conditions and infers data from application behavior changes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9"/>
          <p:cNvSpPr/>
          <p:nvPr/>
        </p:nvSpPr>
        <p:spPr>
          <a:xfrm>
            <a:off x="3429000" y="3749040"/>
            <a:ext cx="246888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9"/>
          <p:cNvSpPr/>
          <p:nvPr/>
        </p:nvSpPr>
        <p:spPr>
          <a:xfrm>
            <a:off x="3429000" y="3749040"/>
            <a:ext cx="45720" cy="8229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9"/>
          <p:cNvSpPr/>
          <p:nvPr/>
        </p:nvSpPr>
        <p:spPr>
          <a:xfrm>
            <a:off x="3566160" y="3794760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00"/>
              <a:buFont typeface="Georgia"/>
              <a:buNone/>
            </a:pPr>
            <a:r>
              <a:rPr lang="en" sz="11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Time-Based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9"/>
          <p:cNvSpPr/>
          <p:nvPr/>
        </p:nvSpPr>
        <p:spPr>
          <a:xfrm>
            <a:off x="3566160" y="406908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900"/>
              <a:buFont typeface="Calibri"/>
              <a:buNone/>
            </a:pPr>
            <a:r>
              <a:rPr lang="en" sz="9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Uses SLEEP / WAITFOR to detect conditions via response time differences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9"/>
          <p:cNvSpPr/>
          <p:nvPr/>
        </p:nvSpPr>
        <p:spPr>
          <a:xfrm>
            <a:off x="6217920" y="1097280"/>
            <a:ext cx="2651760" cy="361188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9"/>
          <p:cNvSpPr/>
          <p:nvPr/>
        </p:nvSpPr>
        <p:spPr>
          <a:xfrm>
            <a:off x="6217920" y="1097280"/>
            <a:ext cx="2651760" cy="54864"/>
          </a:xfrm>
          <a:prstGeom prst="rect">
            <a:avLst/>
          </a:prstGeom>
          <a:solidFill>
            <a:srgbClr val="E8870E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5" name="Google Shape;215;p19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69480" y="1325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19"/>
          <p:cNvSpPr/>
          <p:nvPr/>
        </p:nvSpPr>
        <p:spPr>
          <a:xfrm>
            <a:off x="6309360" y="182880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70E"/>
              </a:buClr>
              <a:buSzPts val="1500"/>
              <a:buFont typeface="Georgia"/>
              <a:buNone/>
            </a:pPr>
            <a:r>
              <a:rPr lang="en" sz="1500" b="1">
                <a:solidFill>
                  <a:srgbClr val="E8870E"/>
                </a:solidFill>
                <a:latin typeface="Georgia"/>
                <a:ea typeface="Georgia"/>
                <a:cs typeface="Georgia"/>
                <a:sym typeface="Georgia"/>
              </a:rPr>
              <a:t>Out-of-Band SQLi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9"/>
          <p:cNvSpPr/>
          <p:nvPr/>
        </p:nvSpPr>
        <p:spPr>
          <a:xfrm>
            <a:off x="6355080" y="2148840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900"/>
              <a:buFont typeface="Calibri"/>
              <a:buNone/>
            </a:pPr>
            <a:r>
              <a:rPr lang="en" sz="900" i="1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Data exfiltrated via a separate channel such as DNS or HTTP.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9"/>
          <p:cNvSpPr/>
          <p:nvPr/>
        </p:nvSpPr>
        <p:spPr>
          <a:xfrm>
            <a:off x="6309360" y="2788920"/>
            <a:ext cx="246888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9"/>
          <p:cNvSpPr/>
          <p:nvPr/>
        </p:nvSpPr>
        <p:spPr>
          <a:xfrm>
            <a:off x="6309360" y="2788920"/>
            <a:ext cx="45720" cy="822960"/>
          </a:xfrm>
          <a:prstGeom prst="rect">
            <a:avLst/>
          </a:prstGeom>
          <a:solidFill>
            <a:srgbClr val="E8870E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9"/>
          <p:cNvSpPr/>
          <p:nvPr/>
        </p:nvSpPr>
        <p:spPr>
          <a:xfrm>
            <a:off x="6446520" y="2834640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00"/>
              <a:buFont typeface="Georgia"/>
              <a:buNone/>
            </a:pPr>
            <a:r>
              <a:rPr lang="en" sz="11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DNS Exfiltration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9"/>
          <p:cNvSpPr/>
          <p:nvPr/>
        </p:nvSpPr>
        <p:spPr>
          <a:xfrm>
            <a:off x="6446520" y="310896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900"/>
              <a:buFont typeface="Calibri"/>
              <a:buNone/>
            </a:pPr>
            <a:r>
              <a:rPr lang="en" sz="9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DB initiates DNS lookup to attacker-controlled server carrying data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9"/>
          <p:cNvSpPr/>
          <p:nvPr/>
        </p:nvSpPr>
        <p:spPr>
          <a:xfrm>
            <a:off x="6309360" y="3749040"/>
            <a:ext cx="246888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9"/>
          <p:cNvSpPr/>
          <p:nvPr/>
        </p:nvSpPr>
        <p:spPr>
          <a:xfrm>
            <a:off x="6309360" y="3749040"/>
            <a:ext cx="45720" cy="822960"/>
          </a:xfrm>
          <a:prstGeom prst="rect">
            <a:avLst/>
          </a:prstGeom>
          <a:solidFill>
            <a:srgbClr val="E8870E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9"/>
          <p:cNvSpPr/>
          <p:nvPr/>
        </p:nvSpPr>
        <p:spPr>
          <a:xfrm>
            <a:off x="6446520" y="3794760"/>
            <a:ext cx="22402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100"/>
              <a:buFont typeface="Georgia"/>
              <a:buNone/>
            </a:pPr>
            <a:r>
              <a:rPr lang="en" sz="11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HTTP Channel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9"/>
          <p:cNvSpPr/>
          <p:nvPr/>
        </p:nvSpPr>
        <p:spPr>
          <a:xfrm>
            <a:off x="6446520" y="406908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900"/>
              <a:buFont typeface="Calibri"/>
              <a:buNone/>
            </a:pPr>
            <a:r>
              <a:rPr lang="en" sz="9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DB sends HTTP request with extracted data to external endpoint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0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3000"/>
              <a:buFont typeface="Georgia"/>
              <a:buNone/>
            </a:pPr>
            <a:r>
              <a:rPr lang="en" sz="30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Real-World Breaches &amp; Impact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0"/>
          <p:cNvSpPr/>
          <p:nvPr/>
        </p:nvSpPr>
        <p:spPr>
          <a:xfrm>
            <a:off x="548640" y="841248"/>
            <a:ext cx="2286000" cy="2743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0"/>
          <p:cNvSpPr/>
          <p:nvPr/>
        </p:nvSpPr>
        <p:spPr>
          <a:xfrm>
            <a:off x="548640" y="1097280"/>
            <a:ext cx="8046720" cy="82296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0"/>
          <p:cNvSpPr/>
          <p:nvPr/>
        </p:nvSpPr>
        <p:spPr>
          <a:xfrm>
            <a:off x="548640" y="1097280"/>
            <a:ext cx="54864" cy="82296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0"/>
          <p:cNvSpPr/>
          <p:nvPr/>
        </p:nvSpPr>
        <p:spPr>
          <a:xfrm>
            <a:off x="777240" y="1280160"/>
            <a:ext cx="685800" cy="457200"/>
          </a:xfrm>
          <a:prstGeom prst="rect">
            <a:avLst/>
          </a:prstGeom>
          <a:solidFill>
            <a:srgbClr val="E6F5F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0"/>
          <p:cNvSpPr/>
          <p:nvPr/>
        </p:nvSpPr>
        <p:spPr>
          <a:xfrm>
            <a:off x="777240" y="128016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1300"/>
              <a:buFont typeface="Georgia"/>
              <a:buNone/>
            </a:pPr>
            <a:r>
              <a:rPr lang="en" sz="1300" b="1">
                <a:solidFill>
                  <a:srgbClr val="0E7C86"/>
                </a:solidFill>
                <a:latin typeface="Georgia"/>
                <a:ea typeface="Georgia"/>
                <a:cs typeface="Georgia"/>
                <a:sym typeface="Georgia"/>
              </a:rPr>
              <a:t>2023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0"/>
          <p:cNvSpPr/>
          <p:nvPr/>
        </p:nvSpPr>
        <p:spPr>
          <a:xfrm>
            <a:off x="1645920" y="1170432"/>
            <a:ext cx="67665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400"/>
              <a:buFont typeface="Georgia"/>
              <a:buNone/>
            </a:pPr>
            <a:r>
              <a:rPr lang="en" sz="14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MOVEit File Transfer Breach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0"/>
          <p:cNvSpPr/>
          <p:nvPr/>
        </p:nvSpPr>
        <p:spPr>
          <a:xfrm>
            <a:off x="1645920" y="1481328"/>
            <a:ext cx="6766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Mass SQLi exploitation in a managed file transfer application. Thousands of organizations impacted globally, stolen data sold on dark web.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0"/>
          <p:cNvSpPr/>
          <p:nvPr/>
        </p:nvSpPr>
        <p:spPr>
          <a:xfrm>
            <a:off x="548640" y="2057400"/>
            <a:ext cx="8046720" cy="82296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0"/>
          <p:cNvSpPr/>
          <p:nvPr/>
        </p:nvSpPr>
        <p:spPr>
          <a:xfrm>
            <a:off x="548640" y="2057400"/>
            <a:ext cx="54864" cy="8229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0"/>
          <p:cNvSpPr/>
          <p:nvPr/>
        </p:nvSpPr>
        <p:spPr>
          <a:xfrm>
            <a:off x="777240" y="2240280"/>
            <a:ext cx="685800" cy="457200"/>
          </a:xfrm>
          <a:prstGeom prst="rect">
            <a:avLst/>
          </a:prstGeom>
          <a:solidFill>
            <a:srgbClr val="E6F5F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0"/>
          <p:cNvSpPr/>
          <p:nvPr/>
        </p:nvSpPr>
        <p:spPr>
          <a:xfrm>
            <a:off x="777240" y="22402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C5CE7"/>
              </a:buClr>
              <a:buSzPts val="1300"/>
              <a:buFont typeface="Georgia"/>
              <a:buNone/>
            </a:pPr>
            <a:r>
              <a:rPr lang="en" sz="1300" b="1">
                <a:solidFill>
                  <a:srgbClr val="6C5CE7"/>
                </a:solidFill>
                <a:latin typeface="Georgia"/>
                <a:ea typeface="Georgia"/>
                <a:cs typeface="Georgia"/>
                <a:sym typeface="Georgia"/>
              </a:rPr>
              <a:t>2024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0"/>
          <p:cNvSpPr/>
          <p:nvPr/>
        </p:nvSpPr>
        <p:spPr>
          <a:xfrm>
            <a:off x="1645920" y="2130552"/>
            <a:ext cx="67665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400"/>
              <a:buFont typeface="Georgia"/>
              <a:buNone/>
            </a:pPr>
            <a:r>
              <a:rPr lang="en" sz="14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BeyondTrust + PostgreSQL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0"/>
          <p:cNvSpPr/>
          <p:nvPr/>
        </p:nvSpPr>
        <p:spPr>
          <a:xfrm>
            <a:off x="1645920" y="2441448"/>
            <a:ext cx="6766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Zero-day SQLi in BeyondTrust PRA/RS products combined with PostgreSQL vulnerability (CVE-2025-1094). Targeted US government agencies.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0"/>
          <p:cNvSpPr/>
          <p:nvPr/>
        </p:nvSpPr>
        <p:spPr>
          <a:xfrm>
            <a:off x="548640" y="3017520"/>
            <a:ext cx="8046720" cy="82296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0"/>
          <p:cNvSpPr/>
          <p:nvPr/>
        </p:nvSpPr>
        <p:spPr>
          <a:xfrm>
            <a:off x="548640" y="3017520"/>
            <a:ext cx="54864" cy="822960"/>
          </a:xfrm>
          <a:prstGeom prst="rect">
            <a:avLst/>
          </a:prstGeom>
          <a:solidFill>
            <a:srgbClr val="E8870E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0"/>
          <p:cNvSpPr/>
          <p:nvPr/>
        </p:nvSpPr>
        <p:spPr>
          <a:xfrm>
            <a:off x="777240" y="3200400"/>
            <a:ext cx="685800" cy="457200"/>
          </a:xfrm>
          <a:prstGeom prst="rect">
            <a:avLst/>
          </a:prstGeom>
          <a:solidFill>
            <a:srgbClr val="E6F5F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0"/>
          <p:cNvSpPr/>
          <p:nvPr/>
        </p:nvSpPr>
        <p:spPr>
          <a:xfrm>
            <a:off x="777240" y="320040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70E"/>
              </a:buClr>
              <a:buSzPts val="1300"/>
              <a:buFont typeface="Georgia"/>
              <a:buNone/>
            </a:pPr>
            <a:r>
              <a:rPr lang="en" sz="1300" b="1">
                <a:solidFill>
                  <a:srgbClr val="E8870E"/>
                </a:solidFill>
                <a:latin typeface="Georgia"/>
                <a:ea typeface="Georgia"/>
                <a:cs typeface="Georgia"/>
                <a:sym typeface="Georgia"/>
              </a:rPr>
              <a:t>2025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0"/>
          <p:cNvSpPr/>
          <p:nvPr/>
        </p:nvSpPr>
        <p:spPr>
          <a:xfrm>
            <a:off x="1645920" y="3090672"/>
            <a:ext cx="67665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400"/>
              <a:buFont typeface="Georgia"/>
              <a:buNone/>
            </a:pPr>
            <a:r>
              <a:rPr lang="en" sz="14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Major Retail Chain Breach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0"/>
          <p:cNvSpPr/>
          <p:nvPr/>
        </p:nvSpPr>
        <p:spPr>
          <a:xfrm>
            <a:off x="1645920" y="3401568"/>
            <a:ext cx="6766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Attackers exploited SQL injection to extract credit card data and personal details of millions of customers from a major retailer.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0"/>
          <p:cNvSpPr/>
          <p:nvPr/>
        </p:nvSpPr>
        <p:spPr>
          <a:xfrm>
            <a:off x="548640" y="3977640"/>
            <a:ext cx="8046720" cy="82296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0"/>
          <p:cNvSpPr/>
          <p:nvPr/>
        </p:nvSpPr>
        <p:spPr>
          <a:xfrm>
            <a:off x="548640" y="3977640"/>
            <a:ext cx="54864" cy="82296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0"/>
          <p:cNvSpPr/>
          <p:nvPr/>
        </p:nvSpPr>
        <p:spPr>
          <a:xfrm>
            <a:off x="777240" y="4160520"/>
            <a:ext cx="685800" cy="457200"/>
          </a:xfrm>
          <a:prstGeom prst="rect">
            <a:avLst/>
          </a:prstGeom>
          <a:solidFill>
            <a:srgbClr val="E6F5F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0"/>
          <p:cNvSpPr/>
          <p:nvPr/>
        </p:nvSpPr>
        <p:spPr>
          <a:xfrm>
            <a:off x="777240" y="416052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1300"/>
              <a:buFont typeface="Georgia"/>
              <a:buNone/>
            </a:pPr>
            <a:r>
              <a:rPr lang="en" sz="1300" b="1">
                <a:solidFill>
                  <a:srgbClr val="0E7C86"/>
                </a:solidFill>
                <a:latin typeface="Georgia"/>
                <a:ea typeface="Georgia"/>
                <a:cs typeface="Georgia"/>
                <a:sym typeface="Georgia"/>
              </a:rPr>
              <a:t>2025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0"/>
          <p:cNvSpPr/>
          <p:nvPr/>
        </p:nvSpPr>
        <p:spPr>
          <a:xfrm>
            <a:off x="1645920" y="4050792"/>
            <a:ext cx="67665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400"/>
              <a:buFont typeface="Georgia"/>
              <a:buNone/>
            </a:pPr>
            <a:r>
              <a:rPr lang="en" sz="14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GenAI-Generated Code Vulnerability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0"/>
          <p:cNvSpPr/>
          <p:nvPr/>
        </p:nvSpPr>
        <p:spPr>
          <a:xfrm>
            <a:off x="1645920" y="4361688"/>
            <a:ext cx="6766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A startup deployed AI-generated code with unvalidated SQL queries. 3,200 user records exposed within 48 hours of launch.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1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3000"/>
              <a:buFont typeface="Georgia"/>
              <a:buNone/>
            </a:pPr>
            <a:r>
              <a:rPr lang="en" sz="30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Attack Methodology Deep Dive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1"/>
          <p:cNvSpPr/>
          <p:nvPr/>
        </p:nvSpPr>
        <p:spPr>
          <a:xfrm>
            <a:off x="548640" y="841248"/>
            <a:ext cx="2286000" cy="2743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1"/>
          <p:cNvSpPr/>
          <p:nvPr/>
        </p:nvSpPr>
        <p:spPr>
          <a:xfrm>
            <a:off x="548640" y="1051560"/>
            <a:ext cx="8046720" cy="658368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1"/>
          <p:cNvSpPr/>
          <p:nvPr/>
        </p:nvSpPr>
        <p:spPr>
          <a:xfrm>
            <a:off x="685800" y="1161288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1"/>
          <p:cNvSpPr/>
          <p:nvPr/>
        </p:nvSpPr>
        <p:spPr>
          <a:xfrm>
            <a:off x="685800" y="116128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Georgia"/>
              <a:buNone/>
            </a:pPr>
            <a:r>
              <a:rPr lang="en" sz="1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01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9" name="Google Shape;269;p2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0160" y="1197864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1"/>
          <p:cNvSpPr/>
          <p:nvPr/>
        </p:nvSpPr>
        <p:spPr>
          <a:xfrm>
            <a:off x="1737360" y="1106424"/>
            <a:ext cx="66751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400"/>
              <a:buFont typeface="Georgia"/>
              <a:buNone/>
            </a:pPr>
            <a:r>
              <a:rPr lang="en" sz="14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Reconnaissance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1"/>
          <p:cNvSpPr/>
          <p:nvPr/>
        </p:nvSpPr>
        <p:spPr>
          <a:xfrm>
            <a:off x="1737360" y="1380744"/>
            <a:ext cx="66751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Identify input fields that interact with the database (login forms, search bars, URL parameters, cookies).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1"/>
          <p:cNvSpPr/>
          <p:nvPr/>
        </p:nvSpPr>
        <p:spPr>
          <a:xfrm>
            <a:off x="548640" y="1828800"/>
            <a:ext cx="8046720" cy="658368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1"/>
          <p:cNvSpPr/>
          <p:nvPr/>
        </p:nvSpPr>
        <p:spPr>
          <a:xfrm>
            <a:off x="685800" y="1938528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1"/>
          <p:cNvSpPr/>
          <p:nvPr/>
        </p:nvSpPr>
        <p:spPr>
          <a:xfrm>
            <a:off x="685800" y="193852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Georgia"/>
              <a:buNone/>
            </a:pPr>
            <a:r>
              <a:rPr lang="en" sz="1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02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5" name="Google Shape;275;p2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0160" y="1975104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21"/>
          <p:cNvSpPr/>
          <p:nvPr/>
        </p:nvSpPr>
        <p:spPr>
          <a:xfrm>
            <a:off x="1737360" y="1883664"/>
            <a:ext cx="66751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400"/>
              <a:buFont typeface="Georgia"/>
              <a:buNone/>
            </a:pPr>
            <a:r>
              <a:rPr lang="en" sz="14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Testing &amp; Detection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1"/>
          <p:cNvSpPr/>
          <p:nvPr/>
        </p:nvSpPr>
        <p:spPr>
          <a:xfrm>
            <a:off x="1737360" y="2157984"/>
            <a:ext cx="66751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Inject special characters (single quotes, semicolons) and observe error messages or behavioral changes.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1"/>
          <p:cNvSpPr/>
          <p:nvPr/>
        </p:nvSpPr>
        <p:spPr>
          <a:xfrm>
            <a:off x="548640" y="2606040"/>
            <a:ext cx="8046720" cy="658368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1"/>
          <p:cNvSpPr/>
          <p:nvPr/>
        </p:nvSpPr>
        <p:spPr>
          <a:xfrm>
            <a:off x="685800" y="2715768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1"/>
          <p:cNvSpPr/>
          <p:nvPr/>
        </p:nvSpPr>
        <p:spPr>
          <a:xfrm>
            <a:off x="685800" y="271576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Georgia"/>
              <a:buNone/>
            </a:pPr>
            <a:r>
              <a:rPr lang="en" sz="1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03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1" name="Google Shape;281;p21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280160" y="2752344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21"/>
          <p:cNvSpPr/>
          <p:nvPr/>
        </p:nvSpPr>
        <p:spPr>
          <a:xfrm>
            <a:off x="1737360" y="2660904"/>
            <a:ext cx="66751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400"/>
              <a:buFont typeface="Georgia"/>
              <a:buNone/>
            </a:pPr>
            <a:r>
              <a:rPr lang="en" sz="14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Exploitation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1"/>
          <p:cNvSpPr/>
          <p:nvPr/>
        </p:nvSpPr>
        <p:spPr>
          <a:xfrm>
            <a:off x="1737360" y="2935224"/>
            <a:ext cx="66751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Craft payloads to extract data, bypass authentication, or manipulate database records using UNION, subqueries, or stacked queries.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1"/>
          <p:cNvSpPr/>
          <p:nvPr/>
        </p:nvSpPr>
        <p:spPr>
          <a:xfrm>
            <a:off x="548640" y="3383280"/>
            <a:ext cx="8046720" cy="658368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1"/>
          <p:cNvSpPr/>
          <p:nvPr/>
        </p:nvSpPr>
        <p:spPr>
          <a:xfrm>
            <a:off x="685800" y="3493008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1"/>
          <p:cNvSpPr/>
          <p:nvPr/>
        </p:nvSpPr>
        <p:spPr>
          <a:xfrm>
            <a:off x="685800" y="349300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Georgia"/>
              <a:buNone/>
            </a:pPr>
            <a:r>
              <a:rPr lang="en" sz="1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04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7" name="Google Shape;287;p21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280160" y="3529584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21"/>
          <p:cNvSpPr/>
          <p:nvPr/>
        </p:nvSpPr>
        <p:spPr>
          <a:xfrm>
            <a:off x="1737360" y="3438144"/>
            <a:ext cx="66751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400"/>
              <a:buFont typeface="Georgia"/>
              <a:buNone/>
            </a:pPr>
            <a:r>
              <a:rPr lang="en" sz="14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Privilege Escalation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1"/>
          <p:cNvSpPr/>
          <p:nvPr/>
        </p:nvSpPr>
        <p:spPr>
          <a:xfrm>
            <a:off x="1737360" y="3712464"/>
            <a:ext cx="66751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Attempt to read system tables, access admin credentials, or execute OS commands via database functions like xp_cmdshell.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1"/>
          <p:cNvSpPr/>
          <p:nvPr/>
        </p:nvSpPr>
        <p:spPr>
          <a:xfrm>
            <a:off x="548640" y="4160520"/>
            <a:ext cx="8046720" cy="658368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1"/>
          <p:cNvSpPr/>
          <p:nvPr/>
        </p:nvSpPr>
        <p:spPr>
          <a:xfrm>
            <a:off x="685800" y="4270248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1"/>
          <p:cNvSpPr/>
          <p:nvPr/>
        </p:nvSpPr>
        <p:spPr>
          <a:xfrm>
            <a:off x="685800" y="427024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Georgia"/>
              <a:buNone/>
            </a:pPr>
            <a:r>
              <a:rPr lang="en" sz="1400"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05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3" name="Google Shape;293;p21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280160" y="4306824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21"/>
          <p:cNvSpPr/>
          <p:nvPr/>
        </p:nvSpPr>
        <p:spPr>
          <a:xfrm>
            <a:off x="1737360" y="4215384"/>
            <a:ext cx="66751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400"/>
              <a:buFont typeface="Georgia"/>
              <a:buNone/>
            </a:pPr>
            <a:r>
              <a:rPr lang="en" sz="14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Data Exfiltration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1"/>
          <p:cNvSpPr/>
          <p:nvPr/>
        </p:nvSpPr>
        <p:spPr>
          <a:xfrm>
            <a:off x="1737360" y="4489704"/>
            <a:ext cx="66751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Extract sensitive data (credentials, PII, financial records) through in-band responses, error messages, or out-of-band channels.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2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2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3000"/>
              <a:buFont typeface="Georgia"/>
              <a:buNone/>
            </a:pPr>
            <a:r>
              <a:rPr lang="en" sz="30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Vulnerable vs. Secure Code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2"/>
          <p:cNvSpPr/>
          <p:nvPr/>
        </p:nvSpPr>
        <p:spPr>
          <a:xfrm>
            <a:off x="548640" y="841248"/>
            <a:ext cx="2286000" cy="2743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2"/>
          <p:cNvSpPr/>
          <p:nvPr/>
        </p:nvSpPr>
        <p:spPr>
          <a:xfrm>
            <a:off x="548640" y="1097280"/>
            <a:ext cx="8046720" cy="146304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2"/>
          <p:cNvSpPr/>
          <p:nvPr/>
        </p:nvSpPr>
        <p:spPr>
          <a:xfrm>
            <a:off x="548640" y="1097280"/>
            <a:ext cx="8046720" cy="54864"/>
          </a:xfrm>
          <a:prstGeom prst="rect">
            <a:avLst/>
          </a:prstGeom>
          <a:solidFill>
            <a:srgbClr val="E8870E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6" name="Google Shape;306;p2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1520" y="128016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22"/>
          <p:cNvSpPr/>
          <p:nvPr/>
        </p:nvSpPr>
        <p:spPr>
          <a:xfrm>
            <a:off x="1097280" y="1261872"/>
            <a:ext cx="71323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70E"/>
              </a:buClr>
              <a:buSzPts val="1300"/>
              <a:buFont typeface="Georgia"/>
              <a:buNone/>
            </a:pPr>
            <a:r>
              <a:rPr lang="en" sz="1300" b="1">
                <a:solidFill>
                  <a:srgbClr val="E8870E"/>
                </a:solidFill>
                <a:latin typeface="Georgia"/>
                <a:ea typeface="Georgia"/>
                <a:cs typeface="Georgia"/>
                <a:sym typeface="Georgia"/>
              </a:rPr>
              <a:t>Vulnerable Code (PHP) - Direct String Concatenation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2"/>
          <p:cNvSpPr/>
          <p:nvPr/>
        </p:nvSpPr>
        <p:spPr>
          <a:xfrm>
            <a:off x="731520" y="1691640"/>
            <a:ext cx="7680960" cy="7315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2"/>
          <p:cNvSpPr/>
          <p:nvPr/>
        </p:nvSpPr>
        <p:spPr>
          <a:xfrm>
            <a:off x="868680" y="1737360"/>
            <a:ext cx="74066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100"/>
              <a:buFont typeface="Consolas"/>
              <a:buNone/>
            </a:pPr>
            <a:r>
              <a:rPr lang="en" sz="1100">
                <a:solidFill>
                  <a:srgbClr val="6B7A90"/>
                </a:solidFill>
                <a:latin typeface="Consolas"/>
                <a:ea typeface="Consolas"/>
                <a:cs typeface="Consolas"/>
                <a:sym typeface="Consolas"/>
              </a:rPr>
              <a:t>$username = $_GET['user'];  // Unsanitized input</a:t>
            </a:r>
            <a:br>
              <a:rPr lang="en" sz="1100">
                <a:solidFill>
                  <a:srgbClr val="6B7A90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70E"/>
              </a:buClr>
              <a:buSzPts val="1100"/>
              <a:buFont typeface="Consolas"/>
              <a:buNone/>
            </a:pPr>
            <a:r>
              <a:rPr lang="en" sz="1100">
                <a:solidFill>
                  <a:srgbClr val="E8870E"/>
                </a:solidFill>
                <a:latin typeface="Consolas"/>
                <a:ea typeface="Consolas"/>
                <a:cs typeface="Consolas"/>
                <a:sym typeface="Consolas"/>
              </a:rPr>
              <a:t>$query = "SELECT * FROM users WHERE name='" . $username . "'";</a:t>
            </a:r>
            <a:br>
              <a:rPr lang="en" sz="1100">
                <a:solidFill>
                  <a:srgbClr val="E8870E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100"/>
              <a:buFont typeface="Consolas"/>
              <a:buNone/>
            </a:pPr>
            <a:r>
              <a:rPr lang="en" sz="1100">
                <a:solidFill>
                  <a:srgbClr val="6B7A90"/>
                </a:solidFill>
                <a:latin typeface="Consolas"/>
                <a:ea typeface="Consolas"/>
                <a:cs typeface="Consolas"/>
                <a:sym typeface="Consolas"/>
              </a:rPr>
              <a:t>$result = mysqli_query($conn, $query);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2"/>
          <p:cNvSpPr/>
          <p:nvPr/>
        </p:nvSpPr>
        <p:spPr>
          <a:xfrm>
            <a:off x="548640" y="2788920"/>
            <a:ext cx="8046720" cy="146304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2"/>
          <p:cNvSpPr/>
          <p:nvPr/>
        </p:nvSpPr>
        <p:spPr>
          <a:xfrm>
            <a:off x="548640" y="2788920"/>
            <a:ext cx="8046720" cy="54864"/>
          </a:xfrm>
          <a:prstGeom prst="rect">
            <a:avLst/>
          </a:prstGeom>
          <a:solidFill>
            <a:srgbClr val="1A9E5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2" name="Google Shape;312;p2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1520" y="297180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22"/>
          <p:cNvSpPr/>
          <p:nvPr/>
        </p:nvSpPr>
        <p:spPr>
          <a:xfrm>
            <a:off x="1097280" y="2953512"/>
            <a:ext cx="71323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9E5C"/>
              </a:buClr>
              <a:buSzPts val="1300"/>
              <a:buFont typeface="Georgia"/>
              <a:buNone/>
            </a:pPr>
            <a:r>
              <a:rPr lang="en" sz="1300" b="1">
                <a:solidFill>
                  <a:srgbClr val="1A9E5C"/>
                </a:solidFill>
                <a:latin typeface="Georgia"/>
                <a:ea typeface="Georgia"/>
                <a:cs typeface="Georgia"/>
                <a:sym typeface="Georgia"/>
              </a:rPr>
              <a:t>Secure Code (PHP) - Parameterized Query / Prepared Statement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2"/>
          <p:cNvSpPr/>
          <p:nvPr/>
        </p:nvSpPr>
        <p:spPr>
          <a:xfrm>
            <a:off x="731520" y="3383280"/>
            <a:ext cx="7680960" cy="7315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2"/>
          <p:cNvSpPr/>
          <p:nvPr/>
        </p:nvSpPr>
        <p:spPr>
          <a:xfrm>
            <a:off x="868680" y="3429000"/>
            <a:ext cx="740664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9E5C"/>
              </a:buClr>
              <a:buSzPts val="1100"/>
              <a:buFont typeface="Consolas"/>
              <a:buNone/>
            </a:pPr>
            <a:r>
              <a:rPr lang="en" sz="1100">
                <a:solidFill>
                  <a:srgbClr val="1A9E5C"/>
                </a:solidFill>
                <a:latin typeface="Consolas"/>
                <a:ea typeface="Consolas"/>
                <a:cs typeface="Consolas"/>
                <a:sym typeface="Consolas"/>
              </a:rPr>
              <a:t>$stmt = $pdo-&gt;prepare("SELECT * FROM users WHERE name = ?");</a:t>
            </a:r>
            <a:br>
              <a:rPr lang="en" sz="1100">
                <a:solidFill>
                  <a:srgbClr val="1A9E5C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9E5C"/>
              </a:buClr>
              <a:buSzPts val="1100"/>
              <a:buFont typeface="Consolas"/>
              <a:buNone/>
            </a:pPr>
            <a:r>
              <a:rPr lang="en" sz="1100">
                <a:solidFill>
                  <a:srgbClr val="1A9E5C"/>
                </a:solidFill>
                <a:latin typeface="Consolas"/>
                <a:ea typeface="Consolas"/>
                <a:cs typeface="Consolas"/>
                <a:sym typeface="Consolas"/>
              </a:rPr>
              <a:t>$stmt-&gt;execute([$_GET['user']]);  // Input treated as data, not code</a:t>
            </a:r>
            <a:br>
              <a:rPr lang="en" sz="1100">
                <a:solidFill>
                  <a:srgbClr val="1A9E5C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9E5C"/>
              </a:buClr>
              <a:buSzPts val="1100"/>
              <a:buFont typeface="Consolas"/>
              <a:buNone/>
            </a:pPr>
            <a:r>
              <a:rPr lang="en" sz="1100">
                <a:solidFill>
                  <a:srgbClr val="1A9E5C"/>
                </a:solidFill>
                <a:latin typeface="Consolas"/>
                <a:ea typeface="Consolas"/>
                <a:cs typeface="Consolas"/>
                <a:sym typeface="Consolas"/>
              </a:rPr>
              <a:t>$result = $stmt-&gt;fetchAll();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2"/>
          <p:cNvSpPr/>
          <p:nvPr/>
        </p:nvSpPr>
        <p:spPr>
          <a:xfrm>
            <a:off x="548640" y="4434840"/>
            <a:ext cx="8046720" cy="457200"/>
          </a:xfrm>
          <a:prstGeom prst="rect">
            <a:avLst/>
          </a:prstGeom>
          <a:solidFill>
            <a:srgbClr val="E6F5F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7" name="Google Shape;317;p2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1520" y="448056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22"/>
          <p:cNvSpPr/>
          <p:nvPr/>
        </p:nvSpPr>
        <p:spPr>
          <a:xfrm>
            <a:off x="1097280" y="443484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1200"/>
              <a:buFont typeface="Calibri"/>
              <a:buNone/>
            </a:pPr>
            <a:r>
              <a:rPr lang="en" sz="1200" i="1">
                <a:solidFill>
                  <a:srgbClr val="0E7C86"/>
                </a:solidFill>
                <a:latin typeface="Calibri"/>
                <a:ea typeface="Calibri"/>
                <a:cs typeface="Calibri"/>
                <a:sym typeface="Calibri"/>
              </a:rPr>
              <a:t>Prepared statements separate SQL logic from user data, making injection structurally impossible.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82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' OR 1=1 -- Works Internally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749808"/>
            <a:ext cx="2560320" cy="0"/>
          </a:xfrm>
          <a:prstGeom prst="line">
            <a:avLst/>
          </a:prstGeom>
          <a:noFill/>
          <a:ln w="381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292608" cy="29260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103327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type the payload in the login form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749040" cy="548640"/>
          </a:xfrm>
          <a:prstGeom prst="roundRect">
            <a:avLst>
              <a:gd name="adj" fmla="val 10000"/>
            </a:avLst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85800" y="144475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NUMBER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85800" y="16459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 OR 1=1 --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80560" y="1463040"/>
            <a:ext cx="2286000" cy="548640"/>
          </a:xfrm>
          <a:prstGeom prst="roundRect">
            <a:avLst>
              <a:gd name="adj" fmla="val 10000"/>
            </a:avLst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617720" y="14447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617720" y="1645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anything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210312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sends these values to the Flask server via HTTP POST. No validation, no sanitization.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560320"/>
            <a:ext cx="292608" cy="292608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48640" y="2560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254203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Server builds the SQL query via string concatenation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2971800"/>
            <a:ext cx="8046720" cy="45720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5800" y="299008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 = f"SELECT * FROM students WHERE roll_number = '</a:t>
            </a:r>
            <a:r>
              <a:rPr lang="en-US" sz="100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{username}</a:t>
            </a: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 AND password = '</a:t>
            </a:r>
            <a:r>
              <a:rPr lang="en-US" sz="100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{password}</a:t>
            </a: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'"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5204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substitution, the actual SQL becomes: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794760"/>
            <a:ext cx="8046720" cy="45720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 w="19050">
            <a:solidFill>
              <a:srgbClr val="E887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85800" y="381304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students WHERE roll_number = '</a:t>
            </a:r>
            <a:r>
              <a:rPr lang="en-US" sz="100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 OR </a:t>
            </a:r>
            <a:r>
              <a:rPr lang="en-US" sz="1000" b="1" dirty="0">
                <a:solidFill>
                  <a:srgbClr val="1A9E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1=1</a:t>
            </a:r>
            <a:r>
              <a:rPr lang="en-US" sz="1000" b="1" dirty="0">
                <a:solidFill>
                  <a:srgbClr val="6C5C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--</a:t>
            </a:r>
            <a:r>
              <a:rPr lang="en-US" sz="1000" dirty="0">
                <a:solidFill>
                  <a:srgbClr val="9999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 AND password = 'anything'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8046720" cy="365760"/>
          </a:xfrm>
          <a:prstGeom prst="roundRect">
            <a:avLst>
              <a:gd name="adj" fmla="val 15000"/>
            </a:avLst>
          </a:prstGeom>
          <a:solidFill>
            <a:srgbClr val="FFEB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31520" y="44348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  </a:t>
            </a: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input breaks out of the string literal and becomes executable SQL code.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828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Breaking Down Each Character's Role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658368"/>
            <a:ext cx="2560320" cy="0"/>
          </a:xfrm>
          <a:prstGeom prst="line">
            <a:avLst/>
          </a:prstGeom>
          <a:noFill/>
          <a:ln w="381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 of the payload  ' OR 1=1 --  serves a specific purpose in the attack: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8046720" cy="32004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2344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Character(s)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920240" y="1234440"/>
            <a:ext cx="6675120" cy="32004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8046720" cy="685800"/>
          </a:xfrm>
          <a:prstGeom prst="rect">
            <a:avLst/>
          </a:prstGeom>
          <a:solidFill>
            <a:srgbClr val="F7F8F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15544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920240" y="1554480"/>
            <a:ext cx="6492240" cy="68580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</a:t>
            </a: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opening quote of  roll_number = '  — escapes from string context into SQL context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240280"/>
            <a:ext cx="80467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22402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87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920240" y="2240280"/>
            <a:ext cx="6492240" cy="68580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a new SQL condition </a:t>
            </a: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database evaluates: (original condition) OR (your condition)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926080"/>
            <a:ext cx="8046720" cy="685800"/>
          </a:xfrm>
          <a:prstGeom prst="rect">
            <a:avLst/>
          </a:prstGeom>
          <a:solidFill>
            <a:srgbClr val="F7F8F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48640" y="29260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9E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1=1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920240" y="2926080"/>
            <a:ext cx="6492240" cy="68580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condition that is always TRUE </a:t>
            </a: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since 1 always equals 1, every row in the table matches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611880"/>
            <a:ext cx="80467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" y="36118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C5C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920240" y="3611880"/>
            <a:ext cx="6492240" cy="68580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comment </a:t>
            </a: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everything after this is ignored, killing the  AND password = '...'  check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480560"/>
            <a:ext cx="8046720" cy="365760"/>
          </a:xfrm>
          <a:prstGeom prst="roundRect">
            <a:avLst>
              <a:gd name="adj" fmla="val 15000"/>
            </a:avLst>
          </a:prstGeom>
          <a:solidFill>
            <a:srgbClr val="F0F4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44805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</a:rPr>
              <a:t>Payload breakdown:   </a:t>
            </a:r>
            <a:r>
              <a:rPr lang="en-US" sz="130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r>
              <a:rPr lang="en-US" sz="1000" dirty="0">
                <a:solidFill>
                  <a:srgbClr val="666666"/>
                </a:solidFill>
              </a:rPr>
              <a:t>  close quote   </a:t>
            </a:r>
            <a:r>
              <a:rPr lang="en-US" sz="1300" b="1" dirty="0">
                <a:solidFill>
                  <a:srgbClr val="E887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</a:t>
            </a:r>
            <a:r>
              <a:rPr lang="en-US" sz="1000" dirty="0">
                <a:solidFill>
                  <a:srgbClr val="666666"/>
                </a:solidFill>
              </a:rPr>
              <a:t>  add condition   </a:t>
            </a:r>
            <a:r>
              <a:rPr lang="en-US" sz="1300" b="1" dirty="0">
                <a:solidFill>
                  <a:srgbClr val="1A9E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1=1</a:t>
            </a:r>
            <a:r>
              <a:rPr lang="en-US" sz="1000" dirty="0">
                <a:solidFill>
                  <a:srgbClr val="666666"/>
                </a:solidFill>
              </a:rPr>
              <a:t>  always true   </a:t>
            </a:r>
            <a:r>
              <a:rPr lang="en-US" sz="1300" b="1" dirty="0">
                <a:solidFill>
                  <a:srgbClr val="6C5C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</a:t>
            </a:r>
            <a:r>
              <a:rPr lang="en-US" sz="1000" dirty="0">
                <a:solidFill>
                  <a:srgbClr val="666666"/>
                </a:solidFill>
              </a:rPr>
              <a:t>  comment out rest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828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Database Evaluates the Query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658368"/>
            <a:ext cx="2560320" cy="0"/>
          </a:xfrm>
          <a:prstGeom prst="line">
            <a:avLst/>
          </a:prstGeom>
          <a:noFill/>
          <a:ln w="381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8046720" cy="411480"/>
          </a:xfrm>
          <a:prstGeom prst="roundRect">
            <a:avLst>
              <a:gd name="adj" fmla="val 13333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9144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roll_number = ''     </a:t>
            </a:r>
            <a:r>
              <a:rPr lang="en-US" sz="1200" b="1" dirty="0">
                <a:solidFill>
                  <a:srgbClr val="E887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</a:t>
            </a: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</a:t>
            </a:r>
            <a:r>
              <a:rPr lang="en-US" sz="1200" b="1" dirty="0">
                <a:solidFill>
                  <a:srgbClr val="1A9E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1=1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checks each row against this logic. For every single row: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8046720" cy="32004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1737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108960" y="17373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89120" y="17373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057400"/>
            <a:ext cx="8046720" cy="438912"/>
          </a:xfrm>
          <a:prstGeom prst="rect">
            <a:avLst/>
          </a:prstGeom>
          <a:solidFill>
            <a:srgbClr val="F7F8FA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2057400"/>
            <a:ext cx="2560320" cy="438912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roll_number = ''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37560" y="2148840"/>
            <a:ext cx="822960" cy="256032"/>
          </a:xfrm>
          <a:prstGeom prst="roundRect">
            <a:avLst>
              <a:gd name="adj" fmla="val 14286"/>
            </a:avLst>
          </a:prstGeom>
          <a:solidFill>
            <a:srgbClr val="FFEB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108960" y="205740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89120" y="2057400"/>
            <a:ext cx="4206240" cy="438912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student has an empty roll number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496312"/>
            <a:ext cx="804672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2496312"/>
            <a:ext cx="2560320" cy="438912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9E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= 1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337560" y="2587752"/>
            <a:ext cx="822960" cy="256032"/>
          </a:xfrm>
          <a:prstGeom prst="roundRect">
            <a:avLst>
              <a:gd name="adj" fmla="val 14286"/>
            </a:avLst>
          </a:prstGeom>
          <a:solidFill>
            <a:srgbClr val="E8F5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108960" y="24963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9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89120" y="2496312"/>
            <a:ext cx="4206240" cy="438912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always equals 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2935224"/>
            <a:ext cx="8046720" cy="438912"/>
          </a:xfrm>
          <a:prstGeom prst="rect">
            <a:avLst/>
          </a:prstGeom>
          <a:solidFill>
            <a:srgbClr val="E8F5E9"/>
          </a:solidFill>
          <a:ln w="19050">
            <a:solidFill>
              <a:srgbClr val="1A9E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48640" y="2935224"/>
            <a:ext cx="2560320" cy="438912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  OR  TRUE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46120" y="3026664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1A9E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108960" y="2935224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389120" y="29352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19050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only needs one side to be 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3511296"/>
            <a:ext cx="8046720" cy="365760"/>
          </a:xfrm>
          <a:prstGeom prst="roundRect">
            <a:avLst>
              <a:gd name="adj" fmla="val 15000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31520" y="351129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  Since 1=1 is TRUE for every row, the WHERE clause matches all 10 students in the table.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059936"/>
            <a:ext cx="274320" cy="274320"/>
          </a:xfrm>
          <a:prstGeom prst="ellipse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48640" y="4059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60120" y="40416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app treats the first row as a successful login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48640" y="4425696"/>
            <a:ext cx="8046720" cy="457200"/>
          </a:xfrm>
          <a:prstGeom prst="roundRect">
            <a:avLst>
              <a:gd name="adj" fmla="val 12000"/>
            </a:avLst>
          </a:prstGeom>
          <a:solidFill>
            <a:srgbClr val="FFF3E0"/>
          </a:solidFill>
          <a:ln w="19050">
            <a:solidFill>
              <a:srgbClr val="E887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31520" y="4425696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successful: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logged in as the first student without knowing any password. The dashboard also displays all 10 students' data including their passwords.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26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26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3000"/>
              <a:buFont typeface="Georgia"/>
              <a:buNone/>
            </a:pPr>
            <a:r>
              <a:rPr lang="en" sz="30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Countermeasures: Primary Defenses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26"/>
          <p:cNvSpPr/>
          <p:nvPr/>
        </p:nvSpPr>
        <p:spPr>
          <a:xfrm>
            <a:off x="548640" y="841248"/>
            <a:ext cx="2286000" cy="2743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26"/>
          <p:cNvSpPr/>
          <p:nvPr/>
        </p:nvSpPr>
        <p:spPr>
          <a:xfrm>
            <a:off x="548640" y="1097280"/>
            <a:ext cx="8046720" cy="109728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26"/>
          <p:cNvSpPr/>
          <p:nvPr/>
        </p:nvSpPr>
        <p:spPr>
          <a:xfrm>
            <a:off x="548640" y="1097280"/>
            <a:ext cx="54864" cy="10972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33" name="Google Shape;433;p2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7240" y="123444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26"/>
          <p:cNvSpPr/>
          <p:nvPr/>
        </p:nvSpPr>
        <p:spPr>
          <a:xfrm>
            <a:off x="7635240" y="1234440"/>
            <a:ext cx="777240" cy="228600"/>
          </a:xfrm>
          <a:prstGeom prst="rect">
            <a:avLst/>
          </a:prstGeom>
          <a:solidFill>
            <a:srgbClr val="E6F5F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26"/>
          <p:cNvSpPr/>
          <p:nvPr/>
        </p:nvSpPr>
        <p:spPr>
          <a:xfrm>
            <a:off x="7635240" y="123444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700"/>
              <a:buFont typeface="Georgia"/>
              <a:buNone/>
            </a:pPr>
            <a:r>
              <a:rPr lang="en" sz="700" b="1">
                <a:solidFill>
                  <a:srgbClr val="0E7C86"/>
                </a:solidFill>
                <a:latin typeface="Georgia"/>
                <a:ea typeface="Georgia"/>
                <a:cs typeface="Georgia"/>
                <a:sym typeface="Georgia"/>
              </a:rPr>
              <a:t>PRIMARY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26"/>
          <p:cNvSpPr/>
          <p:nvPr/>
        </p:nvSpPr>
        <p:spPr>
          <a:xfrm>
            <a:off x="1371600" y="1207008"/>
            <a:ext cx="60350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600"/>
              <a:buFont typeface="Georgia"/>
              <a:buNone/>
            </a:pPr>
            <a:r>
              <a:rPr lang="en" sz="16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Parameterized Queries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26"/>
          <p:cNvSpPr/>
          <p:nvPr/>
        </p:nvSpPr>
        <p:spPr>
          <a:xfrm>
            <a:off x="777240" y="1645920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Use prepared statements that separate SQL logic from user-supplied data. This is the #1 defense recommended by OWASP. User input is always treated as data, never as executable code.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6"/>
          <p:cNvSpPr/>
          <p:nvPr/>
        </p:nvSpPr>
        <p:spPr>
          <a:xfrm>
            <a:off x="548640" y="2331720"/>
            <a:ext cx="8046720" cy="109728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26"/>
          <p:cNvSpPr/>
          <p:nvPr/>
        </p:nvSpPr>
        <p:spPr>
          <a:xfrm>
            <a:off x="548640" y="2331720"/>
            <a:ext cx="54864" cy="10972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0" name="Google Shape;440;p26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7240" y="246888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441" name="Google Shape;441;p26"/>
          <p:cNvSpPr/>
          <p:nvPr/>
        </p:nvSpPr>
        <p:spPr>
          <a:xfrm>
            <a:off x="7635240" y="2468880"/>
            <a:ext cx="777240" cy="228600"/>
          </a:xfrm>
          <a:prstGeom prst="rect">
            <a:avLst/>
          </a:prstGeom>
          <a:solidFill>
            <a:srgbClr val="E6F5F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6"/>
          <p:cNvSpPr/>
          <p:nvPr/>
        </p:nvSpPr>
        <p:spPr>
          <a:xfrm>
            <a:off x="7635240" y="246888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700"/>
              <a:buFont typeface="Georgia"/>
              <a:buNone/>
            </a:pPr>
            <a:r>
              <a:rPr lang="en" sz="700" b="1">
                <a:solidFill>
                  <a:srgbClr val="0E7C86"/>
                </a:solidFill>
                <a:latin typeface="Georgia"/>
                <a:ea typeface="Georgia"/>
                <a:cs typeface="Georgia"/>
                <a:sym typeface="Georgia"/>
              </a:rPr>
              <a:t>PRIMARY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26"/>
          <p:cNvSpPr/>
          <p:nvPr/>
        </p:nvSpPr>
        <p:spPr>
          <a:xfrm>
            <a:off x="1371600" y="2441448"/>
            <a:ext cx="60350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600"/>
              <a:buFont typeface="Georgia"/>
              <a:buNone/>
            </a:pPr>
            <a:r>
              <a:rPr lang="en" sz="16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Input Validation &amp; Whitelisting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26"/>
          <p:cNvSpPr/>
          <p:nvPr/>
        </p:nvSpPr>
        <p:spPr>
          <a:xfrm>
            <a:off x="777240" y="2880360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Validate all user inputs against expected patterns. Use whitelists for acceptable characters and formats. Enforce strict type checks and length limits on every input field.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26"/>
          <p:cNvSpPr/>
          <p:nvPr/>
        </p:nvSpPr>
        <p:spPr>
          <a:xfrm>
            <a:off x="548640" y="3566160"/>
            <a:ext cx="8046720" cy="109728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26"/>
          <p:cNvSpPr/>
          <p:nvPr/>
        </p:nvSpPr>
        <p:spPr>
          <a:xfrm>
            <a:off x="548640" y="3566160"/>
            <a:ext cx="54864" cy="10972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7" name="Google Shape;447;p26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7240" y="370332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26"/>
          <p:cNvSpPr/>
          <p:nvPr/>
        </p:nvSpPr>
        <p:spPr>
          <a:xfrm>
            <a:off x="7635240" y="3703320"/>
            <a:ext cx="777240" cy="228600"/>
          </a:xfrm>
          <a:prstGeom prst="rect">
            <a:avLst/>
          </a:prstGeom>
          <a:solidFill>
            <a:srgbClr val="E6F5F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6"/>
          <p:cNvSpPr/>
          <p:nvPr/>
        </p:nvSpPr>
        <p:spPr>
          <a:xfrm>
            <a:off x="7635240" y="370332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700"/>
              <a:buFont typeface="Georgia"/>
              <a:buNone/>
            </a:pPr>
            <a:r>
              <a:rPr lang="en" sz="700" b="1">
                <a:solidFill>
                  <a:srgbClr val="0E7C86"/>
                </a:solidFill>
                <a:latin typeface="Georgia"/>
                <a:ea typeface="Georgia"/>
                <a:cs typeface="Georgia"/>
                <a:sym typeface="Georgia"/>
              </a:rPr>
              <a:t>PRIMARY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26"/>
          <p:cNvSpPr/>
          <p:nvPr/>
        </p:nvSpPr>
        <p:spPr>
          <a:xfrm>
            <a:off x="1371600" y="3675888"/>
            <a:ext cx="60350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600"/>
              <a:buFont typeface="Georgia"/>
              <a:buNone/>
            </a:pPr>
            <a:r>
              <a:rPr lang="en" sz="16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ORM Frameworks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6"/>
          <p:cNvSpPr/>
          <p:nvPr/>
        </p:nvSpPr>
        <p:spPr>
          <a:xfrm>
            <a:off x="777240" y="4114800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Use Object-Relational Mappers such as SQLAlchemy, Hibernate, or Django ORM. These enforce parameterized queries by default, significantly reducing the attack surface.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27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27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3000"/>
              <a:buFont typeface="Georgia"/>
              <a:buNone/>
            </a:pPr>
            <a:r>
              <a:rPr lang="en" sz="30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Countermeasures: Secondary Defenses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27"/>
          <p:cNvSpPr/>
          <p:nvPr/>
        </p:nvSpPr>
        <p:spPr>
          <a:xfrm>
            <a:off x="548640" y="841248"/>
            <a:ext cx="2286000" cy="2743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27"/>
          <p:cNvSpPr/>
          <p:nvPr/>
        </p:nvSpPr>
        <p:spPr>
          <a:xfrm>
            <a:off x="548640" y="1097280"/>
            <a:ext cx="8046720" cy="109728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27"/>
          <p:cNvSpPr/>
          <p:nvPr/>
        </p:nvSpPr>
        <p:spPr>
          <a:xfrm>
            <a:off x="548640" y="1097280"/>
            <a:ext cx="54864" cy="109728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62" name="Google Shape;462;p2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7240" y="123444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463" name="Google Shape;463;p27"/>
          <p:cNvSpPr/>
          <p:nvPr/>
        </p:nvSpPr>
        <p:spPr>
          <a:xfrm>
            <a:off x="7360920" y="1234440"/>
            <a:ext cx="1051560" cy="228600"/>
          </a:xfrm>
          <a:prstGeom prst="rect">
            <a:avLst/>
          </a:prstGeom>
          <a:solidFill>
            <a:srgbClr val="F0EDF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27"/>
          <p:cNvSpPr/>
          <p:nvPr/>
        </p:nvSpPr>
        <p:spPr>
          <a:xfrm>
            <a:off x="7360920" y="1234440"/>
            <a:ext cx="10515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C5CE7"/>
              </a:buClr>
              <a:buSzPts val="700"/>
              <a:buFont typeface="Georgia"/>
              <a:buNone/>
            </a:pPr>
            <a:r>
              <a:rPr lang="en" sz="700" b="1">
                <a:solidFill>
                  <a:srgbClr val="6C5CE7"/>
                </a:solidFill>
                <a:latin typeface="Georgia"/>
                <a:ea typeface="Georgia"/>
                <a:cs typeface="Georgia"/>
                <a:sym typeface="Georgia"/>
              </a:rPr>
              <a:t>SECONDARY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27"/>
          <p:cNvSpPr/>
          <p:nvPr/>
        </p:nvSpPr>
        <p:spPr>
          <a:xfrm>
            <a:off x="1371600" y="1207008"/>
            <a:ext cx="57607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600"/>
              <a:buFont typeface="Georgia"/>
              <a:buNone/>
            </a:pPr>
            <a:r>
              <a:rPr lang="en" sz="16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Least Privilege Principle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27"/>
          <p:cNvSpPr/>
          <p:nvPr/>
        </p:nvSpPr>
        <p:spPr>
          <a:xfrm>
            <a:off x="777240" y="1645920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Database accounts used by applications should have minimal permissions. Avoid granting DROP, ALTER, or administrative access to application-level accounts.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7"/>
          <p:cNvSpPr/>
          <p:nvPr/>
        </p:nvSpPr>
        <p:spPr>
          <a:xfrm>
            <a:off x="548640" y="2331720"/>
            <a:ext cx="8046720" cy="109728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27"/>
          <p:cNvSpPr/>
          <p:nvPr/>
        </p:nvSpPr>
        <p:spPr>
          <a:xfrm>
            <a:off x="548640" y="2331720"/>
            <a:ext cx="54864" cy="109728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69" name="Google Shape;469;p27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7240" y="246888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470" name="Google Shape;470;p27"/>
          <p:cNvSpPr/>
          <p:nvPr/>
        </p:nvSpPr>
        <p:spPr>
          <a:xfrm>
            <a:off x="7360920" y="2468880"/>
            <a:ext cx="1051560" cy="228600"/>
          </a:xfrm>
          <a:prstGeom prst="rect">
            <a:avLst/>
          </a:prstGeom>
          <a:solidFill>
            <a:srgbClr val="F0EDF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27"/>
          <p:cNvSpPr/>
          <p:nvPr/>
        </p:nvSpPr>
        <p:spPr>
          <a:xfrm>
            <a:off x="7360920" y="2468880"/>
            <a:ext cx="10515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C5CE7"/>
              </a:buClr>
              <a:buSzPts val="700"/>
              <a:buFont typeface="Georgia"/>
              <a:buNone/>
            </a:pPr>
            <a:r>
              <a:rPr lang="en" sz="700" b="1">
                <a:solidFill>
                  <a:srgbClr val="6C5CE7"/>
                </a:solidFill>
                <a:latin typeface="Georgia"/>
                <a:ea typeface="Georgia"/>
                <a:cs typeface="Georgia"/>
                <a:sym typeface="Georgia"/>
              </a:rPr>
              <a:t>SECONDARY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7"/>
          <p:cNvSpPr/>
          <p:nvPr/>
        </p:nvSpPr>
        <p:spPr>
          <a:xfrm>
            <a:off x="1371600" y="2441448"/>
            <a:ext cx="57607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600"/>
              <a:buFont typeface="Georgia"/>
              <a:buNone/>
            </a:pPr>
            <a:r>
              <a:rPr lang="en" sz="16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Web Application Firewall (WAF)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7"/>
          <p:cNvSpPr/>
          <p:nvPr/>
        </p:nvSpPr>
        <p:spPr>
          <a:xfrm>
            <a:off x="777240" y="2880360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WAFs inspect HTTP traffic and block requests containing SQLi attack patterns. Useful as an additional layer for legacy applications, but not a standalone solution.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27"/>
          <p:cNvSpPr/>
          <p:nvPr/>
        </p:nvSpPr>
        <p:spPr>
          <a:xfrm>
            <a:off x="548640" y="3566160"/>
            <a:ext cx="8046720" cy="109728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27"/>
          <p:cNvSpPr/>
          <p:nvPr/>
        </p:nvSpPr>
        <p:spPr>
          <a:xfrm>
            <a:off x="548640" y="3566160"/>
            <a:ext cx="54864" cy="109728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76" name="Google Shape;476;p2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7240" y="370332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477" name="Google Shape;477;p27"/>
          <p:cNvSpPr/>
          <p:nvPr/>
        </p:nvSpPr>
        <p:spPr>
          <a:xfrm>
            <a:off x="7360920" y="3703320"/>
            <a:ext cx="1051560" cy="228600"/>
          </a:xfrm>
          <a:prstGeom prst="rect">
            <a:avLst/>
          </a:prstGeom>
          <a:solidFill>
            <a:srgbClr val="F0EDF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27"/>
          <p:cNvSpPr/>
          <p:nvPr/>
        </p:nvSpPr>
        <p:spPr>
          <a:xfrm>
            <a:off x="7360920" y="3703320"/>
            <a:ext cx="10515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C5CE7"/>
              </a:buClr>
              <a:buSzPts val="700"/>
              <a:buFont typeface="Georgia"/>
              <a:buNone/>
            </a:pPr>
            <a:r>
              <a:rPr lang="en" sz="700" b="1">
                <a:solidFill>
                  <a:srgbClr val="6C5CE7"/>
                </a:solidFill>
                <a:latin typeface="Georgia"/>
                <a:ea typeface="Georgia"/>
                <a:cs typeface="Georgia"/>
                <a:sym typeface="Georgia"/>
              </a:rPr>
              <a:t>SECONDARY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7"/>
          <p:cNvSpPr/>
          <p:nvPr/>
        </p:nvSpPr>
        <p:spPr>
          <a:xfrm>
            <a:off x="1371600" y="3675888"/>
            <a:ext cx="57607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600"/>
              <a:buFont typeface="Georgia"/>
              <a:buNone/>
            </a:pPr>
            <a:r>
              <a:rPr lang="en" sz="16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Regular Security Testing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27"/>
          <p:cNvSpPr/>
          <p:nvPr/>
        </p:nvSpPr>
        <p:spPr>
          <a:xfrm>
            <a:off x="777240" y="4114800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Conduct SAST/DAST scans, penetration testing, and code reviews regularly. Use tools like SQLMap, Burp Suite, and OWASP ZAP to identify vulnerabilities before attackers do.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28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28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3000"/>
              <a:buFont typeface="Georgia"/>
              <a:buNone/>
            </a:pPr>
            <a:r>
              <a:rPr lang="en" sz="30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Secure Coding Best Practices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28"/>
          <p:cNvSpPr/>
          <p:nvPr/>
        </p:nvSpPr>
        <p:spPr>
          <a:xfrm>
            <a:off x="548640" y="841248"/>
            <a:ext cx="2286000" cy="2743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28"/>
          <p:cNvSpPr/>
          <p:nvPr/>
        </p:nvSpPr>
        <p:spPr>
          <a:xfrm>
            <a:off x="548640" y="1051560"/>
            <a:ext cx="4023360" cy="114300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28"/>
          <p:cNvSpPr/>
          <p:nvPr/>
        </p:nvSpPr>
        <p:spPr>
          <a:xfrm>
            <a:off x="548640" y="1051560"/>
            <a:ext cx="54864" cy="1143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28"/>
          <p:cNvSpPr/>
          <p:nvPr/>
        </p:nvSpPr>
        <p:spPr>
          <a:xfrm>
            <a:off x="731520" y="114300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200"/>
              <a:buFont typeface="Georgia"/>
              <a:buNone/>
            </a:pPr>
            <a:r>
              <a:rPr lang="en" sz="12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Never trust user input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28"/>
          <p:cNvSpPr/>
          <p:nvPr/>
        </p:nvSpPr>
        <p:spPr>
          <a:xfrm>
            <a:off x="731520" y="1490472"/>
            <a:ext cx="36576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Treat all input (form fields, URL parameters, cookies, HTTP headers) as potentially malicious. Validate and sanitize everything.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28"/>
          <p:cNvSpPr/>
          <p:nvPr/>
        </p:nvSpPr>
        <p:spPr>
          <a:xfrm>
            <a:off x="548640" y="2331720"/>
            <a:ext cx="4023360" cy="114300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28"/>
          <p:cNvSpPr/>
          <p:nvPr/>
        </p:nvSpPr>
        <p:spPr>
          <a:xfrm>
            <a:off x="548640" y="2331720"/>
            <a:ext cx="54864" cy="1143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28"/>
          <p:cNvSpPr/>
          <p:nvPr/>
        </p:nvSpPr>
        <p:spPr>
          <a:xfrm>
            <a:off x="731520" y="242316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200"/>
              <a:buFont typeface="Georgia"/>
              <a:buNone/>
            </a:pPr>
            <a:r>
              <a:rPr lang="en" sz="12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Use parameterized queries everywhere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28"/>
          <p:cNvSpPr/>
          <p:nvPr/>
        </p:nvSpPr>
        <p:spPr>
          <a:xfrm>
            <a:off x="731520" y="2770632"/>
            <a:ext cx="36576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Every database interaction must use prepared statements or parameterized queries, with no exceptions for "simple" queries.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28"/>
          <p:cNvSpPr/>
          <p:nvPr/>
        </p:nvSpPr>
        <p:spPr>
          <a:xfrm>
            <a:off x="548640" y="3611880"/>
            <a:ext cx="4023360" cy="114300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28"/>
          <p:cNvSpPr/>
          <p:nvPr/>
        </p:nvSpPr>
        <p:spPr>
          <a:xfrm>
            <a:off x="548640" y="3611880"/>
            <a:ext cx="54864" cy="1143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28"/>
          <p:cNvSpPr/>
          <p:nvPr/>
        </p:nvSpPr>
        <p:spPr>
          <a:xfrm>
            <a:off x="731520" y="370332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200"/>
              <a:buFont typeface="Georgia"/>
              <a:buNone/>
            </a:pPr>
            <a:r>
              <a:rPr lang="en" sz="12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Apply the principle of least privilege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28"/>
          <p:cNvSpPr/>
          <p:nvPr/>
        </p:nvSpPr>
        <p:spPr>
          <a:xfrm>
            <a:off x="731520" y="4050792"/>
            <a:ext cx="36576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Each application should connect to the database with the minimum permissions required for its functionality.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28"/>
          <p:cNvSpPr/>
          <p:nvPr/>
        </p:nvSpPr>
        <p:spPr>
          <a:xfrm>
            <a:off x="4800600" y="1051560"/>
            <a:ext cx="4023360" cy="114300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28"/>
          <p:cNvSpPr/>
          <p:nvPr/>
        </p:nvSpPr>
        <p:spPr>
          <a:xfrm>
            <a:off x="4800600" y="1051560"/>
            <a:ext cx="54864" cy="1143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28"/>
          <p:cNvSpPr/>
          <p:nvPr/>
        </p:nvSpPr>
        <p:spPr>
          <a:xfrm>
            <a:off x="4983480" y="114300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200"/>
              <a:buFont typeface="Georgia"/>
              <a:buNone/>
            </a:pPr>
            <a:r>
              <a:rPr lang="en" sz="12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Implement proper error handling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8"/>
          <p:cNvSpPr/>
          <p:nvPr/>
        </p:nvSpPr>
        <p:spPr>
          <a:xfrm>
            <a:off x="4983480" y="1490472"/>
            <a:ext cx="36576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Never expose database error messages to end users. Use generic error pages and log detailed errors server-side only.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28"/>
          <p:cNvSpPr/>
          <p:nvPr/>
        </p:nvSpPr>
        <p:spPr>
          <a:xfrm>
            <a:off x="4800600" y="2331720"/>
            <a:ext cx="4023360" cy="114300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28"/>
          <p:cNvSpPr/>
          <p:nvPr/>
        </p:nvSpPr>
        <p:spPr>
          <a:xfrm>
            <a:off x="4800600" y="2331720"/>
            <a:ext cx="54864" cy="1143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28"/>
          <p:cNvSpPr/>
          <p:nvPr/>
        </p:nvSpPr>
        <p:spPr>
          <a:xfrm>
            <a:off x="4983480" y="242316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200"/>
              <a:buFont typeface="Georgia"/>
              <a:buNone/>
            </a:pPr>
            <a:r>
              <a:rPr lang="en" sz="12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Keep frameworks and libraries updated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28"/>
          <p:cNvSpPr/>
          <p:nvPr/>
        </p:nvSpPr>
        <p:spPr>
          <a:xfrm>
            <a:off x="4983480" y="2770632"/>
            <a:ext cx="36576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Regularly update your tech stack. Many SQLi vulnerabilities exist in outdated framework versions and third-party libraries.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28"/>
          <p:cNvSpPr/>
          <p:nvPr/>
        </p:nvSpPr>
        <p:spPr>
          <a:xfrm>
            <a:off x="4800600" y="3611880"/>
            <a:ext cx="4023360" cy="114300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6200" dist="25400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28"/>
          <p:cNvSpPr/>
          <p:nvPr/>
        </p:nvSpPr>
        <p:spPr>
          <a:xfrm>
            <a:off x="4800600" y="3611880"/>
            <a:ext cx="54864" cy="1143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28"/>
          <p:cNvSpPr/>
          <p:nvPr/>
        </p:nvSpPr>
        <p:spPr>
          <a:xfrm>
            <a:off x="4983480" y="370332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200"/>
              <a:buFont typeface="Georgia"/>
              <a:buNone/>
            </a:pPr>
            <a:r>
              <a:rPr lang="en" sz="12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Audit AI-generated code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28"/>
          <p:cNvSpPr/>
          <p:nvPr/>
        </p:nvSpPr>
        <p:spPr>
          <a:xfrm>
            <a:off x="4983480" y="4050792"/>
            <a:ext cx="36576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A90"/>
                </a:solidFill>
                <a:latin typeface="Calibri"/>
                <a:ea typeface="Calibri"/>
                <a:cs typeface="Calibri"/>
                <a:sym typeface="Calibri"/>
              </a:rPr>
              <a:t>Code generated by AI tools may contain SQLi vulnerabilities. Always review and test generated code before deployment.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29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29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3000"/>
              <a:buFont typeface="Georgia"/>
              <a:buNone/>
            </a:pPr>
            <a:r>
              <a:rPr lang="en" sz="3000" b="1">
                <a:solidFill>
                  <a:srgbClr val="1B2A4A"/>
                </a:solidFill>
                <a:latin typeface="Georgia"/>
                <a:ea typeface="Georgia"/>
                <a:cs typeface="Georgia"/>
                <a:sym typeface="Georgia"/>
              </a:rPr>
              <a:t>Key Takeaways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29"/>
          <p:cNvSpPr/>
          <p:nvPr/>
        </p:nvSpPr>
        <p:spPr>
          <a:xfrm>
            <a:off x="548640" y="841248"/>
            <a:ext cx="2286000" cy="2743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29"/>
          <p:cNvSpPr/>
          <p:nvPr/>
        </p:nvSpPr>
        <p:spPr>
          <a:xfrm>
            <a:off x="548650" y="1005850"/>
            <a:ext cx="8443200" cy="65880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9955" dist="26652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5925" tIns="47950" rIns="95925" bIns="4795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8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29"/>
          <p:cNvSpPr/>
          <p:nvPr/>
        </p:nvSpPr>
        <p:spPr>
          <a:xfrm>
            <a:off x="548650" y="1005850"/>
            <a:ext cx="57600" cy="6588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5925" tIns="47950" rIns="95925" bIns="4795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8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23" name="Google Shape;523;p2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8514" y="1115635"/>
            <a:ext cx="335809" cy="384248"/>
          </a:xfrm>
          <a:prstGeom prst="rect">
            <a:avLst/>
          </a:prstGeom>
          <a:noFill/>
          <a:ln>
            <a:noFill/>
          </a:ln>
        </p:spPr>
      </p:pic>
      <p:sp>
        <p:nvSpPr>
          <p:cNvPr id="524" name="Google Shape;524;p29"/>
          <p:cNvSpPr/>
          <p:nvPr/>
        </p:nvSpPr>
        <p:spPr>
          <a:xfrm>
            <a:off x="1268243" y="1027807"/>
            <a:ext cx="7531800" cy="6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259"/>
              <a:buFont typeface="Calibri"/>
              <a:buNone/>
            </a:pPr>
            <a:r>
              <a:rPr lang="en" sz="1259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SQL Injection is over 25 years old yet remains in the OWASP Top 10 and caused 26% of breaches in 2024.</a:t>
            </a:r>
            <a:endParaRPr sz="125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9"/>
          <p:cNvSpPr/>
          <p:nvPr/>
        </p:nvSpPr>
        <p:spPr>
          <a:xfrm>
            <a:off x="548650" y="1774346"/>
            <a:ext cx="8443200" cy="65880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9955" dist="26652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5925" tIns="47950" rIns="95925" bIns="4795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8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29"/>
          <p:cNvSpPr/>
          <p:nvPr/>
        </p:nvSpPr>
        <p:spPr>
          <a:xfrm>
            <a:off x="548650" y="1774346"/>
            <a:ext cx="57600" cy="6588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5925" tIns="47950" rIns="95925" bIns="4795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8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27" name="Google Shape;527;p2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8514" y="1884131"/>
            <a:ext cx="335809" cy="384248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29"/>
          <p:cNvSpPr/>
          <p:nvPr/>
        </p:nvSpPr>
        <p:spPr>
          <a:xfrm>
            <a:off x="1268243" y="1796303"/>
            <a:ext cx="7531800" cy="6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259"/>
              <a:buFont typeface="Calibri"/>
              <a:buNone/>
            </a:pPr>
            <a:r>
              <a:rPr lang="en" sz="1259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A single vulnerable input field can compromise an entire database, leading to data theft, manipulation, or destruction.</a:t>
            </a:r>
            <a:endParaRPr sz="125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29"/>
          <p:cNvSpPr/>
          <p:nvPr/>
        </p:nvSpPr>
        <p:spPr>
          <a:xfrm>
            <a:off x="548650" y="2542842"/>
            <a:ext cx="8443200" cy="65880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9955" dist="26652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5925" tIns="47950" rIns="95925" bIns="4795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8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29"/>
          <p:cNvSpPr/>
          <p:nvPr/>
        </p:nvSpPr>
        <p:spPr>
          <a:xfrm>
            <a:off x="548650" y="2542842"/>
            <a:ext cx="57600" cy="6588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5925" tIns="47950" rIns="95925" bIns="4795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8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1" name="Google Shape;531;p29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8514" y="2652627"/>
            <a:ext cx="335809" cy="384248"/>
          </a:xfrm>
          <a:prstGeom prst="rect">
            <a:avLst/>
          </a:prstGeom>
          <a:noFill/>
          <a:ln>
            <a:noFill/>
          </a:ln>
        </p:spPr>
      </p:pic>
      <p:sp>
        <p:nvSpPr>
          <p:cNvPr id="532" name="Google Shape;532;p29"/>
          <p:cNvSpPr/>
          <p:nvPr/>
        </p:nvSpPr>
        <p:spPr>
          <a:xfrm>
            <a:off x="1268243" y="2564799"/>
            <a:ext cx="7531800" cy="6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259"/>
              <a:buFont typeface="Calibri"/>
              <a:buNone/>
            </a:pPr>
            <a:r>
              <a:rPr lang="en" sz="1259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Parameterized queries are the most effective defense and should be the standard for all database interactions.</a:t>
            </a:r>
            <a:endParaRPr sz="125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29"/>
          <p:cNvSpPr/>
          <p:nvPr/>
        </p:nvSpPr>
        <p:spPr>
          <a:xfrm>
            <a:off x="548650" y="3311338"/>
            <a:ext cx="8443200" cy="65880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9955" dist="26652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5925" tIns="47950" rIns="95925" bIns="4795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8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29"/>
          <p:cNvSpPr/>
          <p:nvPr/>
        </p:nvSpPr>
        <p:spPr>
          <a:xfrm>
            <a:off x="548650" y="3311338"/>
            <a:ext cx="57600" cy="6588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5925" tIns="47950" rIns="95925" bIns="4795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8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5" name="Google Shape;535;p29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8514" y="3421123"/>
            <a:ext cx="335809" cy="384248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29"/>
          <p:cNvSpPr/>
          <p:nvPr/>
        </p:nvSpPr>
        <p:spPr>
          <a:xfrm>
            <a:off x="1268243" y="3333295"/>
            <a:ext cx="7531800" cy="6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259"/>
              <a:buFont typeface="Calibri"/>
              <a:buNone/>
            </a:pPr>
            <a:r>
              <a:rPr lang="en" sz="1259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Defense in depth is essential: combine prepared statements, input validation, WAFs, least privilege, and security testing.</a:t>
            </a:r>
            <a:endParaRPr sz="125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29"/>
          <p:cNvSpPr/>
          <p:nvPr/>
        </p:nvSpPr>
        <p:spPr>
          <a:xfrm>
            <a:off x="548650" y="4079834"/>
            <a:ext cx="8443200" cy="658800"/>
          </a:xfrm>
          <a:prstGeom prst="rect">
            <a:avLst/>
          </a:prstGeom>
          <a:solidFill>
            <a:srgbClr val="F7F8FA"/>
          </a:solidFill>
          <a:ln>
            <a:noFill/>
          </a:ln>
          <a:effectLst>
            <a:outerShdw blurRad="79955" dist="26652" dir="8100000" algn="bl" rotWithShape="0">
              <a:srgbClr val="9AAFC0">
                <a:alpha val="18039"/>
              </a:srgbClr>
            </a:outerShdw>
          </a:effectLst>
        </p:spPr>
        <p:txBody>
          <a:bodyPr spcFirstLastPara="1" wrap="square" lIns="95925" tIns="47950" rIns="95925" bIns="4795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8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29"/>
          <p:cNvSpPr/>
          <p:nvPr/>
        </p:nvSpPr>
        <p:spPr>
          <a:xfrm>
            <a:off x="548650" y="4079834"/>
            <a:ext cx="57600" cy="6588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5925" tIns="47950" rIns="95925" bIns="4795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8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9" name="Google Shape;539;p29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88514" y="4189619"/>
            <a:ext cx="335809" cy="384248"/>
          </a:xfrm>
          <a:prstGeom prst="rect">
            <a:avLst/>
          </a:prstGeom>
          <a:noFill/>
          <a:ln>
            <a:noFill/>
          </a:ln>
        </p:spPr>
      </p:pic>
      <p:sp>
        <p:nvSpPr>
          <p:cNvPr id="540" name="Google Shape;540;p29"/>
          <p:cNvSpPr/>
          <p:nvPr/>
        </p:nvSpPr>
        <p:spPr>
          <a:xfrm>
            <a:off x="1268243" y="4101791"/>
            <a:ext cx="7531800" cy="60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1259"/>
              <a:buFont typeface="Calibri"/>
              <a:buNone/>
            </a:pPr>
            <a:r>
              <a:rPr lang="en" sz="1259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AI-generated code is introducing new SQLi risks. Always audit and test code regardless of its source.</a:t>
            </a:r>
            <a:endParaRPr sz="125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30"/>
          <p:cNvSpPr/>
          <p:nvPr/>
        </p:nvSpPr>
        <p:spPr>
          <a:xfrm>
            <a:off x="3882599" y="973836"/>
            <a:ext cx="1371900" cy="411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7" name="Google Shape;547;p30"/>
          <p:cNvSpPr/>
          <p:nvPr/>
        </p:nvSpPr>
        <p:spPr>
          <a:xfrm>
            <a:off x="0" y="377248"/>
            <a:ext cx="9144000" cy="5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E7C86"/>
              </a:buClr>
              <a:buSzPts val="1200"/>
              <a:buFont typeface="Calibri"/>
              <a:buNone/>
            </a:pPr>
            <a:r>
              <a:rPr lang="en" sz="2300" b="0" i="1" u="none" strike="noStrike" cap="none">
                <a:solidFill>
                  <a:srgbClr val="0E7C86"/>
                </a:solidFill>
                <a:latin typeface="Calibri"/>
                <a:ea typeface="Calibri"/>
                <a:cs typeface="Calibri"/>
                <a:sym typeface="Calibri"/>
              </a:rPr>
              <a:t>Questions are welcome — Cyber Security  |  IIT Jodhpur - Team 10</a:t>
            </a:r>
            <a:endParaRPr sz="2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30"/>
          <p:cNvSpPr/>
          <p:nvPr/>
        </p:nvSpPr>
        <p:spPr>
          <a:xfrm>
            <a:off x="356833" y="1056168"/>
            <a:ext cx="83208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B8794"/>
              </a:buClr>
              <a:buSzPts val="1000"/>
              <a:buFont typeface="Calibri"/>
              <a:buNone/>
            </a:pPr>
            <a:r>
              <a:rPr lang="en" sz="1000" b="1" i="0" u="none" strike="noStrike" cap="none">
                <a:solidFill>
                  <a:srgbClr val="7B8794"/>
                </a:solidFill>
                <a:latin typeface="Calibri"/>
                <a:ea typeface="Calibri"/>
                <a:cs typeface="Calibri"/>
                <a:sym typeface="Calibri"/>
              </a:rPr>
              <a:t>Our Team 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30"/>
          <p:cNvSpPr/>
          <p:nvPr/>
        </p:nvSpPr>
        <p:spPr>
          <a:xfrm>
            <a:off x="408158" y="1354335"/>
            <a:ext cx="8320800" cy="13800"/>
          </a:xfrm>
          <a:prstGeom prst="rect">
            <a:avLst/>
          </a:prstGeom>
          <a:solidFill>
            <a:srgbClr val="E0E5EC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0" name="Google Shape;550;p30"/>
          <p:cNvSpPr/>
          <p:nvPr/>
        </p:nvSpPr>
        <p:spPr>
          <a:xfrm>
            <a:off x="411608" y="1474695"/>
            <a:ext cx="8320800" cy="370200"/>
          </a:xfrm>
          <a:prstGeom prst="roundRect">
            <a:avLst>
              <a:gd name="adj" fmla="val 11111"/>
            </a:avLst>
          </a:prstGeom>
          <a:solidFill>
            <a:srgbClr val="F7F8FA"/>
          </a:solidFill>
          <a:ln w="9525" cap="flat" cmpd="sng">
            <a:solidFill>
              <a:srgbClr val="E0E5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30"/>
          <p:cNvSpPr/>
          <p:nvPr/>
        </p:nvSpPr>
        <p:spPr>
          <a:xfrm>
            <a:off x="535083" y="1529559"/>
            <a:ext cx="260700" cy="260700"/>
          </a:xfrm>
          <a:prstGeom prst="roundRect">
            <a:avLst>
              <a:gd name="adj" fmla="val 15789"/>
            </a:avLst>
          </a:prstGeom>
          <a:solidFill>
            <a:srgbClr val="0E7C86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30"/>
          <p:cNvSpPr/>
          <p:nvPr/>
        </p:nvSpPr>
        <p:spPr>
          <a:xfrm>
            <a:off x="535083" y="1529559"/>
            <a:ext cx="260700" cy="26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30"/>
          <p:cNvSpPr/>
          <p:nvPr/>
        </p:nvSpPr>
        <p:spPr>
          <a:xfrm>
            <a:off x="926087" y="1502127"/>
            <a:ext cx="30183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Calibri"/>
              <a:buNone/>
            </a:pPr>
            <a:r>
              <a:rPr lang="en" sz="1000" b="1" i="0" u="none" strike="noStrike" cap="non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Khushi Bawistale</a:t>
            </a:r>
            <a:r>
              <a:rPr lang="en" sz="800" b="0" i="0" u="none" strike="noStrike" cap="none">
                <a:solidFill>
                  <a:srgbClr val="7B8794"/>
                </a:solidFill>
                <a:latin typeface="Calibri"/>
                <a:ea typeface="Calibri"/>
                <a:cs typeface="Calibri"/>
                <a:sym typeface="Calibri"/>
              </a:rPr>
              <a:t>    G25AIT2052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30"/>
          <p:cNvSpPr/>
          <p:nvPr/>
        </p:nvSpPr>
        <p:spPr>
          <a:xfrm>
            <a:off x="4012959" y="1502127"/>
            <a:ext cx="46647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900"/>
              <a:buFont typeface="Calibri"/>
              <a:buNone/>
            </a:pPr>
            <a:r>
              <a:rPr lang="en" sz="9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Presentation and demonstration</a:t>
            </a:r>
            <a:endParaRPr sz="90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30"/>
          <p:cNvSpPr/>
          <p:nvPr/>
        </p:nvSpPr>
        <p:spPr>
          <a:xfrm>
            <a:off x="411608" y="1899891"/>
            <a:ext cx="8320800" cy="370200"/>
          </a:xfrm>
          <a:prstGeom prst="roundRect">
            <a:avLst>
              <a:gd name="adj" fmla="val 11111"/>
            </a:avLst>
          </a:prstGeom>
          <a:solidFill>
            <a:srgbClr val="F7F8FA"/>
          </a:solidFill>
          <a:ln w="9525" cap="flat" cmpd="sng">
            <a:solidFill>
              <a:srgbClr val="E0E5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0"/>
          <p:cNvSpPr/>
          <p:nvPr/>
        </p:nvSpPr>
        <p:spPr>
          <a:xfrm>
            <a:off x="535083" y="1954755"/>
            <a:ext cx="260700" cy="260700"/>
          </a:xfrm>
          <a:prstGeom prst="roundRect">
            <a:avLst>
              <a:gd name="adj" fmla="val 15789"/>
            </a:avLst>
          </a:prstGeom>
          <a:solidFill>
            <a:srgbClr val="0E7C86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0"/>
          <p:cNvSpPr/>
          <p:nvPr/>
        </p:nvSpPr>
        <p:spPr>
          <a:xfrm>
            <a:off x="535083" y="1954755"/>
            <a:ext cx="260700" cy="26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30"/>
          <p:cNvSpPr/>
          <p:nvPr/>
        </p:nvSpPr>
        <p:spPr>
          <a:xfrm>
            <a:off x="926087" y="1927323"/>
            <a:ext cx="30183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Calibri"/>
              <a:buNone/>
            </a:pPr>
            <a:r>
              <a:rPr lang="en" sz="1000" b="1" i="0" u="none" strike="noStrike" cap="non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Soumya A</a:t>
            </a:r>
            <a:r>
              <a:rPr lang="en" sz="800" b="0" i="0" u="none" strike="noStrike" cap="none">
                <a:solidFill>
                  <a:srgbClr val="7B8794"/>
                </a:solidFill>
                <a:latin typeface="Calibri"/>
                <a:ea typeface="Calibri"/>
                <a:cs typeface="Calibri"/>
                <a:sym typeface="Calibri"/>
              </a:rPr>
              <a:t>    G25AIT2111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30"/>
          <p:cNvSpPr/>
          <p:nvPr/>
        </p:nvSpPr>
        <p:spPr>
          <a:xfrm>
            <a:off x="4012959" y="1927323"/>
            <a:ext cx="46647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900"/>
              <a:buFont typeface="Calibri"/>
              <a:buNone/>
            </a:pPr>
            <a:r>
              <a:rPr lang="en" sz="9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Presentation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30"/>
          <p:cNvSpPr/>
          <p:nvPr/>
        </p:nvSpPr>
        <p:spPr>
          <a:xfrm>
            <a:off x="411608" y="2325087"/>
            <a:ext cx="8320800" cy="370200"/>
          </a:xfrm>
          <a:prstGeom prst="roundRect">
            <a:avLst>
              <a:gd name="adj" fmla="val 11111"/>
            </a:avLst>
          </a:prstGeom>
          <a:solidFill>
            <a:srgbClr val="F7F8FA"/>
          </a:solidFill>
          <a:ln w="9525" cap="flat" cmpd="sng">
            <a:solidFill>
              <a:srgbClr val="E0E5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61" name="Google Shape;561;p30"/>
          <p:cNvSpPr/>
          <p:nvPr/>
        </p:nvSpPr>
        <p:spPr>
          <a:xfrm>
            <a:off x="535083" y="2379951"/>
            <a:ext cx="260700" cy="260700"/>
          </a:xfrm>
          <a:prstGeom prst="roundRect">
            <a:avLst>
              <a:gd name="adj" fmla="val 15789"/>
            </a:avLst>
          </a:prstGeom>
          <a:solidFill>
            <a:srgbClr val="0E7C86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30"/>
          <p:cNvSpPr/>
          <p:nvPr/>
        </p:nvSpPr>
        <p:spPr>
          <a:xfrm>
            <a:off x="535083" y="2379951"/>
            <a:ext cx="260700" cy="26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30"/>
          <p:cNvSpPr/>
          <p:nvPr/>
        </p:nvSpPr>
        <p:spPr>
          <a:xfrm>
            <a:off x="926087" y="2352519"/>
            <a:ext cx="30183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Calibri"/>
              <a:buNone/>
            </a:pPr>
            <a:r>
              <a:rPr lang="en" sz="1000" b="1" i="0" u="none" strike="noStrike" cap="non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Shashank Jangid</a:t>
            </a:r>
            <a:r>
              <a:rPr lang="en" sz="800" b="0" i="0" u="none" strike="noStrike" cap="none">
                <a:solidFill>
                  <a:srgbClr val="7B8794"/>
                </a:solidFill>
                <a:latin typeface="Calibri"/>
                <a:ea typeface="Calibri"/>
                <a:cs typeface="Calibri"/>
                <a:sym typeface="Calibri"/>
              </a:rPr>
              <a:t>    G25AIT2100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30"/>
          <p:cNvSpPr/>
          <p:nvPr/>
        </p:nvSpPr>
        <p:spPr>
          <a:xfrm>
            <a:off x="4012959" y="2352519"/>
            <a:ext cx="46647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2D3748"/>
              </a:buClr>
              <a:buSzPts val="900"/>
            </a:pPr>
            <a:r>
              <a:rPr lang="en-IN" sz="900" dirty="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Demonstration and Presentation</a:t>
            </a:r>
            <a:endParaRPr lang="en-IN"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30"/>
          <p:cNvSpPr/>
          <p:nvPr/>
        </p:nvSpPr>
        <p:spPr>
          <a:xfrm>
            <a:off x="411608" y="2750283"/>
            <a:ext cx="8320800" cy="370200"/>
          </a:xfrm>
          <a:prstGeom prst="roundRect">
            <a:avLst>
              <a:gd name="adj" fmla="val 11111"/>
            </a:avLst>
          </a:prstGeom>
          <a:solidFill>
            <a:srgbClr val="F7F8FA"/>
          </a:solidFill>
          <a:ln w="9525" cap="flat" cmpd="sng">
            <a:solidFill>
              <a:srgbClr val="E0E5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66" name="Google Shape;566;p30"/>
          <p:cNvSpPr/>
          <p:nvPr/>
        </p:nvSpPr>
        <p:spPr>
          <a:xfrm>
            <a:off x="535083" y="2805147"/>
            <a:ext cx="260700" cy="260700"/>
          </a:xfrm>
          <a:prstGeom prst="roundRect">
            <a:avLst>
              <a:gd name="adj" fmla="val 15789"/>
            </a:avLst>
          </a:prstGeom>
          <a:solidFill>
            <a:srgbClr val="0E7C86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30"/>
          <p:cNvSpPr/>
          <p:nvPr/>
        </p:nvSpPr>
        <p:spPr>
          <a:xfrm>
            <a:off x="535083" y="2805147"/>
            <a:ext cx="260700" cy="26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30"/>
          <p:cNvSpPr/>
          <p:nvPr/>
        </p:nvSpPr>
        <p:spPr>
          <a:xfrm>
            <a:off x="926087" y="2777715"/>
            <a:ext cx="30183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Calibri"/>
              <a:buNone/>
            </a:pPr>
            <a:r>
              <a:rPr lang="en" sz="1000" b="1" i="0" u="none" strike="noStrike" cap="non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Rajath S M</a:t>
            </a:r>
            <a:r>
              <a:rPr lang="en" sz="800" b="0" i="0" u="none" strike="noStrike" cap="none">
                <a:solidFill>
                  <a:srgbClr val="7B8794"/>
                </a:solidFill>
                <a:latin typeface="Calibri"/>
                <a:ea typeface="Calibri"/>
                <a:cs typeface="Calibri"/>
                <a:sym typeface="Calibri"/>
              </a:rPr>
              <a:t>    G25AIT2079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30"/>
          <p:cNvSpPr/>
          <p:nvPr/>
        </p:nvSpPr>
        <p:spPr>
          <a:xfrm>
            <a:off x="4012959" y="2777715"/>
            <a:ext cx="46647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900"/>
              <a:buFont typeface="Calibri"/>
              <a:buNone/>
            </a:pPr>
            <a:r>
              <a:rPr lang="en" sz="900" dirty="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Demonstration and Presentation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30"/>
          <p:cNvSpPr/>
          <p:nvPr/>
        </p:nvSpPr>
        <p:spPr>
          <a:xfrm>
            <a:off x="411608" y="3175479"/>
            <a:ext cx="8320800" cy="370200"/>
          </a:xfrm>
          <a:prstGeom prst="roundRect">
            <a:avLst>
              <a:gd name="adj" fmla="val 11111"/>
            </a:avLst>
          </a:prstGeom>
          <a:solidFill>
            <a:srgbClr val="F7F8FA"/>
          </a:solidFill>
          <a:ln w="9525" cap="flat" cmpd="sng">
            <a:solidFill>
              <a:srgbClr val="E0E5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30"/>
          <p:cNvSpPr/>
          <p:nvPr/>
        </p:nvSpPr>
        <p:spPr>
          <a:xfrm>
            <a:off x="535083" y="3230343"/>
            <a:ext cx="260700" cy="260700"/>
          </a:xfrm>
          <a:prstGeom prst="roundRect">
            <a:avLst>
              <a:gd name="adj" fmla="val 15789"/>
            </a:avLst>
          </a:prstGeom>
          <a:solidFill>
            <a:srgbClr val="0E7C86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2" name="Google Shape;572;p30"/>
          <p:cNvSpPr/>
          <p:nvPr/>
        </p:nvSpPr>
        <p:spPr>
          <a:xfrm>
            <a:off x="535083" y="3230343"/>
            <a:ext cx="260700" cy="26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30"/>
          <p:cNvSpPr/>
          <p:nvPr/>
        </p:nvSpPr>
        <p:spPr>
          <a:xfrm>
            <a:off x="926087" y="3202911"/>
            <a:ext cx="30183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Calibri"/>
              <a:buNone/>
            </a:pPr>
            <a:r>
              <a:rPr lang="en" sz="1000" b="1" i="0" u="none" strike="noStrike" cap="non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Siddhant Singh</a:t>
            </a:r>
            <a:r>
              <a:rPr lang="en" sz="800" b="0" i="0" u="none" strike="noStrike" cap="none">
                <a:solidFill>
                  <a:srgbClr val="7B8794"/>
                </a:solidFill>
                <a:latin typeface="Calibri"/>
                <a:ea typeface="Calibri"/>
                <a:cs typeface="Calibri"/>
                <a:sym typeface="Calibri"/>
              </a:rPr>
              <a:t>    G25AIT2105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30"/>
          <p:cNvSpPr/>
          <p:nvPr/>
        </p:nvSpPr>
        <p:spPr>
          <a:xfrm>
            <a:off x="4012959" y="3202911"/>
            <a:ext cx="46647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900"/>
              <a:buFont typeface="Calibri"/>
              <a:buNone/>
            </a:pPr>
            <a:endParaRPr sz="900" dirty="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900"/>
              <a:buFont typeface="Calibri"/>
              <a:buNone/>
            </a:pPr>
            <a:r>
              <a:rPr lang="en" sz="900" dirty="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Demonstration and Presentation</a:t>
            </a:r>
            <a:endParaRPr sz="900" dirty="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900"/>
              <a:buFont typeface="Calibri"/>
              <a:buNone/>
            </a:pPr>
            <a:endParaRPr sz="900" dirty="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30"/>
          <p:cNvSpPr/>
          <p:nvPr/>
        </p:nvSpPr>
        <p:spPr>
          <a:xfrm>
            <a:off x="411608" y="3600675"/>
            <a:ext cx="8320800" cy="370200"/>
          </a:xfrm>
          <a:prstGeom prst="roundRect">
            <a:avLst>
              <a:gd name="adj" fmla="val 11111"/>
            </a:avLst>
          </a:prstGeom>
          <a:solidFill>
            <a:srgbClr val="F7F8FA"/>
          </a:solidFill>
          <a:ln w="9525" cap="flat" cmpd="sng">
            <a:solidFill>
              <a:srgbClr val="E0E5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30"/>
          <p:cNvSpPr/>
          <p:nvPr/>
        </p:nvSpPr>
        <p:spPr>
          <a:xfrm>
            <a:off x="535083" y="3655539"/>
            <a:ext cx="260700" cy="260700"/>
          </a:xfrm>
          <a:prstGeom prst="roundRect">
            <a:avLst>
              <a:gd name="adj" fmla="val 15789"/>
            </a:avLst>
          </a:prstGeom>
          <a:solidFill>
            <a:srgbClr val="0E7C86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7" name="Google Shape;577;p30"/>
          <p:cNvSpPr/>
          <p:nvPr/>
        </p:nvSpPr>
        <p:spPr>
          <a:xfrm>
            <a:off x="535083" y="3655539"/>
            <a:ext cx="260700" cy="26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30"/>
          <p:cNvSpPr/>
          <p:nvPr/>
        </p:nvSpPr>
        <p:spPr>
          <a:xfrm>
            <a:off x="926087" y="3628107"/>
            <a:ext cx="30183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Calibri"/>
              <a:buNone/>
            </a:pPr>
            <a:r>
              <a:rPr lang="en" sz="1000" b="1" i="0" u="none" strike="noStrike" cap="non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Deepanshu Arora</a:t>
            </a:r>
            <a:r>
              <a:rPr lang="en" sz="800" b="0" i="0" u="none" strike="noStrike" cap="none">
                <a:solidFill>
                  <a:srgbClr val="7B8794"/>
                </a:solidFill>
                <a:latin typeface="Calibri"/>
                <a:ea typeface="Calibri"/>
                <a:cs typeface="Calibri"/>
                <a:sym typeface="Calibri"/>
              </a:rPr>
              <a:t>    G25AIT2029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30"/>
          <p:cNvSpPr/>
          <p:nvPr/>
        </p:nvSpPr>
        <p:spPr>
          <a:xfrm>
            <a:off x="4012959" y="3628107"/>
            <a:ext cx="46647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900"/>
              <a:buFont typeface="Calibri"/>
              <a:buNone/>
            </a:pPr>
            <a:r>
              <a:rPr lang="en" sz="9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Presentation and demo discussion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30"/>
          <p:cNvSpPr/>
          <p:nvPr/>
        </p:nvSpPr>
        <p:spPr>
          <a:xfrm>
            <a:off x="411608" y="4025871"/>
            <a:ext cx="8320800" cy="370200"/>
          </a:xfrm>
          <a:prstGeom prst="roundRect">
            <a:avLst>
              <a:gd name="adj" fmla="val 11111"/>
            </a:avLst>
          </a:prstGeom>
          <a:solidFill>
            <a:srgbClr val="F7F8FA"/>
          </a:solidFill>
          <a:ln w="9525" cap="flat" cmpd="sng">
            <a:solidFill>
              <a:srgbClr val="E0E5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1" name="Google Shape;581;p30"/>
          <p:cNvSpPr/>
          <p:nvPr/>
        </p:nvSpPr>
        <p:spPr>
          <a:xfrm>
            <a:off x="535083" y="4080735"/>
            <a:ext cx="260700" cy="260700"/>
          </a:xfrm>
          <a:prstGeom prst="roundRect">
            <a:avLst>
              <a:gd name="adj" fmla="val 15789"/>
            </a:avLst>
          </a:prstGeom>
          <a:solidFill>
            <a:srgbClr val="0E7C86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2" name="Google Shape;582;p30"/>
          <p:cNvSpPr/>
          <p:nvPr/>
        </p:nvSpPr>
        <p:spPr>
          <a:xfrm>
            <a:off x="535083" y="4080735"/>
            <a:ext cx="260700" cy="26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30"/>
          <p:cNvSpPr/>
          <p:nvPr/>
        </p:nvSpPr>
        <p:spPr>
          <a:xfrm>
            <a:off x="926087" y="4053303"/>
            <a:ext cx="30183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A4A"/>
              </a:buClr>
              <a:buSzPts val="1000"/>
              <a:buFont typeface="Calibri"/>
              <a:buNone/>
            </a:pPr>
            <a:r>
              <a:rPr lang="en" sz="1000" b="1" i="0" u="none" strike="noStrike" cap="non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Shah Tirth Rajeshkumar</a:t>
            </a:r>
            <a:r>
              <a:rPr lang="en" sz="800" b="0" i="0" u="none" strike="noStrike" cap="none">
                <a:solidFill>
                  <a:srgbClr val="7B8794"/>
                </a:solidFill>
                <a:latin typeface="Calibri"/>
                <a:ea typeface="Calibri"/>
                <a:cs typeface="Calibri"/>
                <a:sym typeface="Calibri"/>
              </a:rPr>
              <a:t>    G25AIT2121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30"/>
          <p:cNvSpPr/>
          <p:nvPr/>
        </p:nvSpPr>
        <p:spPr>
          <a:xfrm>
            <a:off x="4012959" y="4053303"/>
            <a:ext cx="46647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900"/>
              <a:buFont typeface="Calibri"/>
              <a:buNone/>
            </a:pPr>
            <a:endParaRPr sz="900" dirty="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900"/>
              <a:buFont typeface="Calibri"/>
              <a:buNone/>
            </a:pPr>
            <a:r>
              <a:rPr lang="en" sz="900" dirty="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Presentation and hands on experience discussion</a:t>
            </a:r>
            <a:endParaRPr sz="900" dirty="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3748"/>
              </a:buClr>
              <a:buSzPts val="900"/>
              <a:buFont typeface="Calibri"/>
              <a:buNone/>
            </a:pPr>
            <a:endParaRPr sz="900" dirty="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30"/>
          <p:cNvSpPr/>
          <p:nvPr/>
        </p:nvSpPr>
        <p:spPr>
          <a:xfrm>
            <a:off x="411608" y="4457925"/>
            <a:ext cx="83208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B8794"/>
              </a:buClr>
              <a:buSzPts val="800"/>
              <a:buFont typeface="Calibri"/>
              <a:buNone/>
            </a:pP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30"/>
          <p:cNvSpPr/>
          <p:nvPr/>
        </p:nvSpPr>
        <p:spPr>
          <a:xfrm>
            <a:off x="0" y="0"/>
            <a:ext cx="9144000" cy="732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5F6"/>
        </a:solidFill>
        <a:effectLst/>
      </p:bgPr>
    </p:bg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31"/>
          <p:cNvSpPr txBox="1"/>
          <p:nvPr/>
        </p:nvSpPr>
        <p:spPr>
          <a:xfrm>
            <a:off x="1417750" y="1719200"/>
            <a:ext cx="6486000" cy="141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0"/>
              <a:t>Thank You</a:t>
            </a:r>
            <a:endParaRPr sz="8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1689</Words>
  <Application>Microsoft Macintosh PowerPoint</Application>
  <PresentationFormat>On-screen Show (16:9)</PresentationFormat>
  <Paragraphs>251</Paragraphs>
  <Slides>17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Consolas</vt:lpstr>
      <vt:lpstr>Georgia</vt:lpstr>
      <vt:lpstr>Simple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1</cp:revision>
  <dcterms:modified xsi:type="dcterms:W3CDTF">2026-05-30T04:45:45Z</dcterms:modified>
</cp:coreProperties>
</file>