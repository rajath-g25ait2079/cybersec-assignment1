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1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1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1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CA252EC-CAB9-4DE5-A92A-B4505FEA330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5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1FF68CD8-A0C0-48D5-B0A9-1E614C3F8D6F}" type="slidenum">
              <a: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50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9DFC7F10-B815-4552-90AC-52FDBC94096C}" type="slidenum">
              <a: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50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85369EA5-3931-4A1E-872F-416A3C2401A1}" type="slidenum">
              <a: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1F20B3E0-A4EA-4350-9DFA-2614707CD479}" type="slidenum">
              <a: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51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85D78351-B898-4BD4-AC4C-F30A3BDF941D}" type="slidenum">
              <a: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C9C08F95-5E7A-40F9-BD8D-99BC8BF52437}" type="slidenum">
              <a: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51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4F3D1379-B73F-4317-AE4C-7B32514F3844}" type="slidenum">
              <a: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52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4983D4E1-9735-454B-83DC-99E7ADC7F54C}" type="slidenum">
              <a: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5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92055B5C-73D4-4AFC-B1C2-8CDDDB8D1984}" type="slidenum">
              <a: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52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7054E3E1-3DDA-4FE7-8276-D9960C385FC2}" type="slidenum">
              <a: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399960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E738F388-7276-492E-B82F-38AFF36EBB7B}" type="slidenum">
              <a:rPr lang="en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buNone/>
              <a:def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08F8334-782B-4638-B918-1B0A57F15A7F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 hasCustomPrompt="1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9999"/>
          </a:bodyPr>
          <a:lstStyle>
            <a:lvl1pPr indent="0" algn="ctr">
              <a:lnSpc>
                <a:spcPct val="100000"/>
              </a:lnSpc>
              <a:buNone/>
              <a:defRPr lang="en-US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lang="en-US" sz="1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3D9F0FB-C831-4B51-9C8D-969215E16DDC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48C350E-5DFA-434F-B300-DD2CE4E6F929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AF24C2B-F9E6-4CDA-80FB-E3CB1CAA063A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AD7CB46-4C5A-433D-9224-6609C20231F8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68027B4-1308-4D31-AA68-3A6D0D6AD31D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2A4C1DD-9D46-41D5-BE3D-3D86860B7A08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5000" lnSpcReduction="9999"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3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049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80A3578-5C4B-47C4-B738-88A7EBF48D68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00E2C62-4F33-4A29-92C1-D6F71C3D6925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buNone/>
              <a:defRPr lang="en-US" sz="4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54E2C6E-964C-4344-ABED-5C78B1BD9639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C67F899-FCBF-4A08-85BE-A5F67014B60B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1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10.png"/><Relationship Id="rId8" Type="http://schemas.openxmlformats.org/officeDocument/2006/relationships/image" Target="../media/image13.png"/><Relationship Id="rId9" Type="http://schemas.openxmlformats.org/officeDocument/2006/relationships/slideLayout" Target="../slideLayouts/slideLayout12.xml"/><Relationship Id="rId10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2.xml"/><Relationship Id="rId7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4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26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8.png"/><Relationship Id="rId3" Type="http://schemas.openxmlformats.org/officeDocument/2006/relationships/image" Target="../media/image23.png"/><Relationship Id="rId4" Type="http://schemas.openxmlformats.org/officeDocument/2006/relationships/image" Target="../media/image26.png"/><Relationship Id="rId5" Type="http://schemas.openxmlformats.org/officeDocument/2006/relationships/image" Target="../media/image22.png"/><Relationship Id="rId6" Type="http://schemas.openxmlformats.org/officeDocument/2006/relationships/slideLayout" Target="../slideLayouts/slideLayout12.xml"/><Relationship Id="rId7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457200" y="18288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SQL Injection Attack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"/>
          <p:cNvSpPr/>
          <p:nvPr/>
        </p:nvSpPr>
        <p:spPr>
          <a:xfrm>
            <a:off x="457200" y="7772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A Comprehensive Study on Web Security's Most Persistent Threat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"/>
          <p:cNvSpPr/>
          <p:nvPr/>
        </p:nvSpPr>
        <p:spPr>
          <a:xfrm>
            <a:off x="457200" y="10515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Cyber Security  |  IIT Jodhpur  |  Team 10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4"/>
          <p:cNvSpPr/>
          <p:nvPr/>
        </p:nvSpPr>
        <p:spPr>
          <a:xfrm>
            <a:off x="457200" y="14173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Group Members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5"/>
          <p:cNvSpPr/>
          <p:nvPr/>
        </p:nvSpPr>
        <p:spPr>
          <a:xfrm>
            <a:off x="3200400" y="1691640"/>
            <a:ext cx="2743200" cy="360"/>
          </a:xfrm>
          <a:prstGeom prst="line">
            <a:avLst/>
          </a:prstGeom>
          <a:ln w="19050">
            <a:solidFill>
              <a:srgbClr val="0E7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Image 0" descr="/sessions/pensive-happy-thompson/photos/Khushi.png"/>
          <p:cNvSpPr/>
          <p:nvPr/>
        </p:nvSpPr>
        <p:spPr>
          <a:xfrm>
            <a:off x="1348920" y="1920240"/>
            <a:ext cx="685440" cy="68544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6"/>
          <p:cNvSpPr/>
          <p:nvPr/>
        </p:nvSpPr>
        <p:spPr>
          <a:xfrm>
            <a:off x="1321200" y="1892880"/>
            <a:ext cx="740160" cy="740160"/>
          </a:xfrm>
          <a:prstGeom prst="ellipse">
            <a:avLst/>
          </a:prstGeom>
          <a:noFill/>
          <a:ln w="19050">
            <a:solidFill>
              <a:srgbClr val="0E7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7"/>
          <p:cNvSpPr/>
          <p:nvPr/>
        </p:nvSpPr>
        <p:spPr>
          <a:xfrm>
            <a:off x="731520" y="267912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Khushi Bawistale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8"/>
          <p:cNvSpPr/>
          <p:nvPr/>
        </p:nvSpPr>
        <p:spPr>
          <a:xfrm>
            <a:off x="731520" y="288036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G25AIT2052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Image 1" descr="/sessions/pensive-happy-thompson/photos/Shashank.png"/>
          <p:cNvSpPr/>
          <p:nvPr/>
        </p:nvSpPr>
        <p:spPr>
          <a:xfrm>
            <a:off x="3269160" y="1920240"/>
            <a:ext cx="685440" cy="68544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9"/>
          <p:cNvSpPr/>
          <p:nvPr/>
        </p:nvSpPr>
        <p:spPr>
          <a:xfrm>
            <a:off x="3241440" y="1892880"/>
            <a:ext cx="740160" cy="740160"/>
          </a:xfrm>
          <a:prstGeom prst="ellipse">
            <a:avLst/>
          </a:prstGeom>
          <a:noFill/>
          <a:ln w="19050">
            <a:solidFill>
              <a:srgbClr val="0E7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0"/>
          <p:cNvSpPr/>
          <p:nvPr/>
        </p:nvSpPr>
        <p:spPr>
          <a:xfrm>
            <a:off x="2651760" y="267912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Shashank Jangid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1"/>
          <p:cNvSpPr/>
          <p:nvPr/>
        </p:nvSpPr>
        <p:spPr>
          <a:xfrm>
            <a:off x="2651760" y="288036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G25AIT2100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Image 2" descr="/sessions/pensive-happy-thompson/photos/Rajath.png"/>
          <p:cNvSpPr/>
          <p:nvPr/>
        </p:nvSpPr>
        <p:spPr>
          <a:xfrm>
            <a:off x="5189400" y="1920240"/>
            <a:ext cx="685440" cy="685440"/>
          </a:xfrm>
          <a:prstGeom prst="ellipse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2"/>
          <p:cNvSpPr/>
          <p:nvPr/>
        </p:nvSpPr>
        <p:spPr>
          <a:xfrm>
            <a:off x="5161680" y="1892880"/>
            <a:ext cx="740160" cy="740160"/>
          </a:xfrm>
          <a:prstGeom prst="ellipse">
            <a:avLst/>
          </a:prstGeom>
          <a:noFill/>
          <a:ln w="19050">
            <a:solidFill>
              <a:srgbClr val="0E7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3"/>
          <p:cNvSpPr/>
          <p:nvPr/>
        </p:nvSpPr>
        <p:spPr>
          <a:xfrm>
            <a:off x="4572000" y="267912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Rajath S 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4"/>
          <p:cNvSpPr/>
          <p:nvPr/>
        </p:nvSpPr>
        <p:spPr>
          <a:xfrm>
            <a:off x="4572000" y="288036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G25AIT2079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Image 3" descr="/sessions/pensive-happy-thompson/photos/Siddhant.png"/>
          <p:cNvSpPr/>
          <p:nvPr/>
        </p:nvSpPr>
        <p:spPr>
          <a:xfrm>
            <a:off x="7109640" y="1920240"/>
            <a:ext cx="685440" cy="685440"/>
          </a:xfrm>
          <a:prstGeom prst="ellipse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5"/>
          <p:cNvSpPr/>
          <p:nvPr/>
        </p:nvSpPr>
        <p:spPr>
          <a:xfrm>
            <a:off x="7081920" y="1892880"/>
            <a:ext cx="740160" cy="740160"/>
          </a:xfrm>
          <a:prstGeom prst="ellipse">
            <a:avLst/>
          </a:prstGeom>
          <a:noFill/>
          <a:ln w="19050">
            <a:solidFill>
              <a:srgbClr val="0E7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6"/>
          <p:cNvSpPr/>
          <p:nvPr/>
        </p:nvSpPr>
        <p:spPr>
          <a:xfrm>
            <a:off x="6492240" y="267912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Siddhant Singh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7"/>
          <p:cNvSpPr/>
          <p:nvPr/>
        </p:nvSpPr>
        <p:spPr>
          <a:xfrm>
            <a:off x="6492240" y="288036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G25AIT2105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Image 4" descr="/sessions/pensive-happy-thompson/photos/Deepanshu.png"/>
          <p:cNvSpPr/>
          <p:nvPr/>
        </p:nvSpPr>
        <p:spPr>
          <a:xfrm>
            <a:off x="2309040" y="3337560"/>
            <a:ext cx="685440" cy="685440"/>
          </a:xfrm>
          <a:prstGeom prst="ellipse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8"/>
          <p:cNvSpPr/>
          <p:nvPr/>
        </p:nvSpPr>
        <p:spPr>
          <a:xfrm>
            <a:off x="2281320" y="3310200"/>
            <a:ext cx="740160" cy="740160"/>
          </a:xfrm>
          <a:prstGeom prst="ellipse">
            <a:avLst/>
          </a:prstGeom>
          <a:noFill/>
          <a:ln w="19050">
            <a:solidFill>
              <a:srgbClr val="0E7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9"/>
          <p:cNvSpPr/>
          <p:nvPr/>
        </p:nvSpPr>
        <p:spPr>
          <a:xfrm>
            <a:off x="1691640" y="409644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Deepanshu Arora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0"/>
          <p:cNvSpPr/>
          <p:nvPr/>
        </p:nvSpPr>
        <p:spPr>
          <a:xfrm>
            <a:off x="1691640" y="429768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G25AIT2029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Image 5" descr="/sessions/pensive-happy-thompson/photos/Soumya.png"/>
          <p:cNvSpPr/>
          <p:nvPr/>
        </p:nvSpPr>
        <p:spPr>
          <a:xfrm>
            <a:off x="4229280" y="3337560"/>
            <a:ext cx="685440" cy="685440"/>
          </a:xfrm>
          <a:prstGeom prst="ellipse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1"/>
          <p:cNvSpPr/>
          <p:nvPr/>
        </p:nvSpPr>
        <p:spPr>
          <a:xfrm>
            <a:off x="4201560" y="3310200"/>
            <a:ext cx="740160" cy="740160"/>
          </a:xfrm>
          <a:prstGeom prst="ellipse">
            <a:avLst/>
          </a:prstGeom>
          <a:noFill/>
          <a:ln w="19050">
            <a:solidFill>
              <a:srgbClr val="0E7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2"/>
          <p:cNvSpPr/>
          <p:nvPr/>
        </p:nvSpPr>
        <p:spPr>
          <a:xfrm>
            <a:off x="3611880" y="409644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Soumya 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3"/>
          <p:cNvSpPr/>
          <p:nvPr/>
        </p:nvSpPr>
        <p:spPr>
          <a:xfrm>
            <a:off x="3611880" y="429768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G25AIT2111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Image 6" descr="/sessions/pensive-happy-thompson/photos/Tirth.png"/>
          <p:cNvSpPr/>
          <p:nvPr/>
        </p:nvSpPr>
        <p:spPr>
          <a:xfrm>
            <a:off x="6149520" y="3337560"/>
            <a:ext cx="685440" cy="685440"/>
          </a:xfrm>
          <a:prstGeom prst="ellipse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24"/>
          <p:cNvSpPr/>
          <p:nvPr/>
        </p:nvSpPr>
        <p:spPr>
          <a:xfrm>
            <a:off x="6121800" y="3310200"/>
            <a:ext cx="740160" cy="740160"/>
          </a:xfrm>
          <a:prstGeom prst="ellipse">
            <a:avLst/>
          </a:prstGeom>
          <a:noFill/>
          <a:ln w="19050">
            <a:solidFill>
              <a:srgbClr val="0E7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5"/>
          <p:cNvSpPr/>
          <p:nvPr/>
        </p:nvSpPr>
        <p:spPr>
          <a:xfrm>
            <a:off x="5532120" y="409644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Shah Tirth R.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6"/>
          <p:cNvSpPr/>
          <p:nvPr/>
        </p:nvSpPr>
        <p:spPr>
          <a:xfrm>
            <a:off x="5532120" y="429768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G25AIT2121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7"/>
          <p:cNvSpPr/>
          <p:nvPr/>
        </p:nvSpPr>
        <p:spPr>
          <a:xfrm>
            <a:off x="0" y="5070240"/>
            <a:ext cx="9143640" cy="727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7;p16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360" bIns="36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Google Shape;78;p16"/>
          <p:cNvSpPr/>
          <p:nvPr/>
        </p:nvSpPr>
        <p:spPr>
          <a:xfrm>
            <a:off x="548640" y="3200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0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Agenda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79;p16"/>
          <p:cNvSpPr/>
          <p:nvPr/>
        </p:nvSpPr>
        <p:spPr>
          <a:xfrm>
            <a:off x="548640" y="841320"/>
            <a:ext cx="2285640" cy="2700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3680" bIns="136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Google Shape;80;p16"/>
          <p:cNvSpPr/>
          <p:nvPr/>
        </p:nvSpPr>
        <p:spPr>
          <a:xfrm>
            <a:off x="676800" y="1029960"/>
            <a:ext cx="273960" cy="273960"/>
          </a:xfrm>
          <a:prstGeom prst="ellipse">
            <a:avLst/>
          </a:prstGeom>
          <a:solidFill>
            <a:srgbClr val="E6F5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Google Shape;81;p16"/>
          <p:cNvSpPr/>
          <p:nvPr/>
        </p:nvSpPr>
        <p:spPr>
          <a:xfrm>
            <a:off x="676800" y="10299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900" b="1" u="none" strike="noStrike">
                <a:solidFill>
                  <a:srgbClr val="0E7C86"/>
                </a:solidFill>
                <a:effectLst/>
                <a:uFillTx/>
                <a:latin typeface="Georgia"/>
                <a:ea typeface="Georgia"/>
              </a:rPr>
              <a:t>01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82;p16"/>
          <p:cNvSpPr/>
          <p:nvPr/>
        </p:nvSpPr>
        <p:spPr>
          <a:xfrm>
            <a:off x="1088280" y="1011600"/>
            <a:ext cx="68576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Introduction to SQL Injection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83;p16"/>
          <p:cNvSpPr/>
          <p:nvPr/>
        </p:nvSpPr>
        <p:spPr>
          <a:xfrm>
            <a:off x="676800" y="1368360"/>
            <a:ext cx="273960" cy="273960"/>
          </a:xfrm>
          <a:prstGeom prst="ellipse">
            <a:avLst/>
          </a:prstGeom>
          <a:solidFill>
            <a:srgbClr val="E6F5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Google Shape;84;p16"/>
          <p:cNvSpPr/>
          <p:nvPr/>
        </p:nvSpPr>
        <p:spPr>
          <a:xfrm>
            <a:off x="676800" y="13683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900" b="1" u="none" strike="noStrike">
                <a:solidFill>
                  <a:srgbClr val="0E7C86"/>
                </a:solidFill>
                <a:effectLst/>
                <a:uFillTx/>
                <a:latin typeface="Georgia"/>
                <a:ea typeface="Georgia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85;p16"/>
          <p:cNvSpPr/>
          <p:nvPr/>
        </p:nvSpPr>
        <p:spPr>
          <a:xfrm>
            <a:off x="1088280" y="1350000"/>
            <a:ext cx="68576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How SQL Injection Works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86;p16"/>
          <p:cNvSpPr/>
          <p:nvPr/>
        </p:nvSpPr>
        <p:spPr>
          <a:xfrm>
            <a:off x="676800" y="1706760"/>
            <a:ext cx="273960" cy="273960"/>
          </a:xfrm>
          <a:prstGeom prst="ellipse">
            <a:avLst/>
          </a:prstGeom>
          <a:solidFill>
            <a:srgbClr val="E6F5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Google Shape;87;p16"/>
          <p:cNvSpPr/>
          <p:nvPr/>
        </p:nvSpPr>
        <p:spPr>
          <a:xfrm>
            <a:off x="676800" y="17067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900" b="1" u="none" strike="noStrike">
                <a:solidFill>
                  <a:srgbClr val="0E7C86"/>
                </a:solidFill>
                <a:effectLst/>
                <a:uFillTx/>
                <a:latin typeface="Georgia"/>
                <a:ea typeface="Georgia"/>
              </a:rPr>
              <a:t>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88;p16"/>
          <p:cNvSpPr/>
          <p:nvPr/>
        </p:nvSpPr>
        <p:spPr>
          <a:xfrm>
            <a:off x="1088280" y="1688400"/>
            <a:ext cx="68576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Types of SQL Injection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89;p16"/>
          <p:cNvSpPr/>
          <p:nvPr/>
        </p:nvSpPr>
        <p:spPr>
          <a:xfrm>
            <a:off x="676800" y="2044800"/>
            <a:ext cx="273960" cy="273960"/>
          </a:xfrm>
          <a:prstGeom prst="ellipse">
            <a:avLst/>
          </a:prstGeom>
          <a:solidFill>
            <a:srgbClr val="E6F5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Google Shape;90;p16"/>
          <p:cNvSpPr/>
          <p:nvPr/>
        </p:nvSpPr>
        <p:spPr>
          <a:xfrm>
            <a:off x="676800" y="20448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900" b="1" u="none" strike="noStrike">
                <a:solidFill>
                  <a:srgbClr val="0E7C86"/>
                </a:solidFill>
                <a:effectLst/>
                <a:uFillTx/>
                <a:latin typeface="Georgia"/>
                <a:ea typeface="Georgia"/>
              </a:rPr>
              <a:t>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91;p16"/>
          <p:cNvSpPr/>
          <p:nvPr/>
        </p:nvSpPr>
        <p:spPr>
          <a:xfrm>
            <a:off x="1088280" y="2026800"/>
            <a:ext cx="68576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Real-World Breaches &amp; Impact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92;p16"/>
          <p:cNvSpPr/>
          <p:nvPr/>
        </p:nvSpPr>
        <p:spPr>
          <a:xfrm>
            <a:off x="676800" y="2383200"/>
            <a:ext cx="273960" cy="273960"/>
          </a:xfrm>
          <a:prstGeom prst="ellipse">
            <a:avLst/>
          </a:prstGeom>
          <a:solidFill>
            <a:srgbClr val="E6F5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Google Shape;93;p16"/>
          <p:cNvSpPr/>
          <p:nvPr/>
        </p:nvSpPr>
        <p:spPr>
          <a:xfrm>
            <a:off x="676800" y="23832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900" b="1" u="none" strike="noStrike">
                <a:solidFill>
                  <a:srgbClr val="0E7C86"/>
                </a:solidFill>
                <a:effectLst/>
                <a:uFillTx/>
                <a:latin typeface="Georgia"/>
                <a:ea typeface="Georgia"/>
              </a:rPr>
              <a:t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94;p16"/>
          <p:cNvSpPr/>
          <p:nvPr/>
        </p:nvSpPr>
        <p:spPr>
          <a:xfrm>
            <a:off x="1088280" y="2364840"/>
            <a:ext cx="68576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Attack Methodology Deep Dive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95;p16"/>
          <p:cNvSpPr/>
          <p:nvPr/>
        </p:nvSpPr>
        <p:spPr>
          <a:xfrm>
            <a:off x="676800" y="2721600"/>
            <a:ext cx="273960" cy="273960"/>
          </a:xfrm>
          <a:prstGeom prst="ellipse">
            <a:avLst/>
          </a:prstGeom>
          <a:solidFill>
            <a:srgbClr val="E6F5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Google Shape;96;p16"/>
          <p:cNvSpPr/>
          <p:nvPr/>
        </p:nvSpPr>
        <p:spPr>
          <a:xfrm>
            <a:off x="676800" y="27216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900" b="1" u="none" strike="noStrike">
                <a:solidFill>
                  <a:srgbClr val="0E7C86"/>
                </a:solidFill>
                <a:effectLst/>
                <a:uFillTx/>
                <a:latin typeface="Georgia"/>
                <a:ea typeface="Georgia"/>
              </a:rPr>
              <a:t>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97;p16"/>
          <p:cNvSpPr/>
          <p:nvPr/>
        </p:nvSpPr>
        <p:spPr>
          <a:xfrm>
            <a:off x="1088280" y="2703240"/>
            <a:ext cx="68576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How ’ OR 1=1 -- Works Internally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98;p16"/>
          <p:cNvSpPr/>
          <p:nvPr/>
        </p:nvSpPr>
        <p:spPr>
          <a:xfrm>
            <a:off x="676800" y="3060000"/>
            <a:ext cx="273960" cy="273960"/>
          </a:xfrm>
          <a:prstGeom prst="ellipse">
            <a:avLst/>
          </a:prstGeom>
          <a:solidFill>
            <a:srgbClr val="E6F5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Google Shape;99;p16"/>
          <p:cNvSpPr/>
          <p:nvPr/>
        </p:nvSpPr>
        <p:spPr>
          <a:xfrm>
            <a:off x="676800" y="30600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900" b="1" u="none" strike="noStrike">
                <a:solidFill>
                  <a:srgbClr val="0E7C86"/>
                </a:solidFill>
                <a:effectLst/>
                <a:uFillTx/>
                <a:latin typeface="Georgia"/>
                <a:ea typeface="Georgia"/>
              </a:rPr>
              <a:t>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00;p16"/>
          <p:cNvSpPr/>
          <p:nvPr/>
        </p:nvSpPr>
        <p:spPr>
          <a:xfrm>
            <a:off x="1088280" y="3041640"/>
            <a:ext cx="68576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Breaking Down Each Character’s Role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01;p16"/>
          <p:cNvSpPr/>
          <p:nvPr/>
        </p:nvSpPr>
        <p:spPr>
          <a:xfrm>
            <a:off x="676800" y="3398400"/>
            <a:ext cx="273960" cy="273960"/>
          </a:xfrm>
          <a:prstGeom prst="ellipse">
            <a:avLst/>
          </a:prstGeom>
          <a:solidFill>
            <a:srgbClr val="E6F5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Google Shape;102;p16"/>
          <p:cNvSpPr/>
          <p:nvPr/>
        </p:nvSpPr>
        <p:spPr>
          <a:xfrm>
            <a:off x="676800" y="33984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900" b="1" u="none" strike="noStrike">
                <a:solidFill>
                  <a:srgbClr val="0E7C86"/>
                </a:solidFill>
                <a:effectLst/>
                <a:uFillTx/>
                <a:latin typeface="Georgia"/>
                <a:ea typeface="Georgia"/>
              </a:rPr>
              <a:t>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03;p16"/>
          <p:cNvSpPr/>
          <p:nvPr/>
        </p:nvSpPr>
        <p:spPr>
          <a:xfrm>
            <a:off x="1088280" y="3380040"/>
            <a:ext cx="68576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How the Database Evaluates the Query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04;p16"/>
          <p:cNvSpPr/>
          <p:nvPr/>
        </p:nvSpPr>
        <p:spPr>
          <a:xfrm>
            <a:off x="676800" y="3736440"/>
            <a:ext cx="273960" cy="273960"/>
          </a:xfrm>
          <a:prstGeom prst="ellipse">
            <a:avLst/>
          </a:prstGeom>
          <a:solidFill>
            <a:srgbClr val="E6F5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Google Shape;105;p16"/>
          <p:cNvSpPr/>
          <p:nvPr/>
        </p:nvSpPr>
        <p:spPr>
          <a:xfrm>
            <a:off x="676800" y="37364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900" b="1" u="none" strike="noStrike">
                <a:solidFill>
                  <a:srgbClr val="0E7C86"/>
                </a:solidFill>
                <a:effectLst/>
                <a:uFillTx/>
                <a:latin typeface="Georgia"/>
                <a:ea typeface="Georgia"/>
              </a:rPr>
              <a:t>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06;p16"/>
          <p:cNvSpPr/>
          <p:nvPr/>
        </p:nvSpPr>
        <p:spPr>
          <a:xfrm>
            <a:off x="1088280" y="3718440"/>
            <a:ext cx="68576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Countermeasures &amp; Defense Strategies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07;p16"/>
          <p:cNvSpPr/>
          <p:nvPr/>
        </p:nvSpPr>
        <p:spPr>
          <a:xfrm>
            <a:off x="676800" y="4074840"/>
            <a:ext cx="273960" cy="273960"/>
          </a:xfrm>
          <a:prstGeom prst="ellipse">
            <a:avLst/>
          </a:prstGeom>
          <a:solidFill>
            <a:srgbClr val="E6F5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Google Shape;108;p16"/>
          <p:cNvSpPr/>
          <p:nvPr/>
        </p:nvSpPr>
        <p:spPr>
          <a:xfrm>
            <a:off x="676800" y="40748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900" b="1" u="none" strike="noStrike">
                <a:solidFill>
                  <a:srgbClr val="0E7C86"/>
                </a:solidFill>
                <a:effectLst/>
                <a:uFillTx/>
                <a:latin typeface="Georgia"/>
                <a:ea typeface="Georgia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09;p16"/>
          <p:cNvSpPr/>
          <p:nvPr/>
        </p:nvSpPr>
        <p:spPr>
          <a:xfrm>
            <a:off x="1088280" y="4056480"/>
            <a:ext cx="68576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Secure Coding Best Practices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10;p16"/>
          <p:cNvSpPr/>
          <p:nvPr/>
        </p:nvSpPr>
        <p:spPr>
          <a:xfrm>
            <a:off x="676800" y="4413240"/>
            <a:ext cx="273960" cy="273960"/>
          </a:xfrm>
          <a:prstGeom prst="ellipse">
            <a:avLst/>
          </a:prstGeom>
          <a:solidFill>
            <a:srgbClr val="E6F5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Google Shape;111;p16"/>
          <p:cNvSpPr/>
          <p:nvPr/>
        </p:nvSpPr>
        <p:spPr>
          <a:xfrm>
            <a:off x="676800" y="44132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900" b="1" u="none" strike="noStrike">
                <a:solidFill>
                  <a:srgbClr val="0E7C86"/>
                </a:solidFill>
                <a:effectLst/>
                <a:uFillTx/>
                <a:latin typeface="Georgia"/>
                <a:ea typeface="Georgia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12;p16"/>
          <p:cNvSpPr/>
          <p:nvPr/>
        </p:nvSpPr>
        <p:spPr>
          <a:xfrm>
            <a:off x="1088280" y="4394880"/>
            <a:ext cx="68576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Key Takeaways &amp; References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18;p17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360" bIns="36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" name="Google Shape;119;p17"/>
          <p:cNvSpPr/>
          <p:nvPr/>
        </p:nvSpPr>
        <p:spPr>
          <a:xfrm>
            <a:off x="548640" y="3200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0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What is SQL Injection?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20;p17"/>
          <p:cNvSpPr/>
          <p:nvPr/>
        </p:nvSpPr>
        <p:spPr>
          <a:xfrm>
            <a:off x="548640" y="841320"/>
            <a:ext cx="2285640" cy="2700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3680" bIns="136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Google Shape;121;p17"/>
          <p:cNvSpPr/>
          <p:nvPr/>
        </p:nvSpPr>
        <p:spPr>
          <a:xfrm>
            <a:off x="548640" y="1097280"/>
            <a:ext cx="5303160" cy="155412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Google Shape;122;p17"/>
          <p:cNvSpPr/>
          <p:nvPr/>
        </p:nvSpPr>
        <p:spPr>
          <a:xfrm>
            <a:off x="548640" y="1097280"/>
            <a:ext cx="54360" cy="15541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4" name="Google Shape;123;p17" descr="preencoded.png"/>
          <p:cNvPicPr/>
          <p:nvPr/>
        </p:nvPicPr>
        <p:blipFill>
          <a:blip r:embed="rId1"/>
          <a:stretch/>
        </p:blipFill>
        <p:spPr>
          <a:xfrm>
            <a:off x="777240" y="123444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Google Shape;124;p17"/>
          <p:cNvSpPr/>
          <p:nvPr/>
        </p:nvSpPr>
        <p:spPr>
          <a:xfrm>
            <a:off x="1188720" y="118872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600" b="1" u="none" strike="noStrike">
                <a:solidFill>
                  <a:srgbClr val="0E7C86"/>
                </a:solidFill>
                <a:effectLst/>
                <a:uFillTx/>
                <a:latin typeface="Georgia"/>
                <a:ea typeface="Georgia"/>
              </a:rPr>
              <a:t>Definition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125;p17"/>
          <p:cNvSpPr/>
          <p:nvPr/>
        </p:nvSpPr>
        <p:spPr>
          <a:xfrm>
            <a:off x="777240" y="1627560"/>
            <a:ext cx="4845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SQL Injection (SQLi) is a code injection technique that exploits vulnerabilities in an application's database layer. Attackers insert malicious SQL statements into input fields, tricking the application into executing unintended commands on the database.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26;p17"/>
          <p:cNvSpPr/>
          <p:nvPr/>
        </p:nvSpPr>
        <p:spPr>
          <a:xfrm>
            <a:off x="6126480" y="1097280"/>
            <a:ext cx="2559960" cy="685440"/>
          </a:xfrm>
          <a:prstGeom prst="rect">
            <a:avLst/>
          </a:prstGeom>
          <a:solidFill>
            <a:srgbClr val="E6F5F6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Google Shape;127;p17"/>
          <p:cNvSpPr/>
          <p:nvPr/>
        </p:nvSpPr>
        <p:spPr>
          <a:xfrm>
            <a:off x="6263640" y="1115640"/>
            <a:ext cx="1096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200" b="1" u="none" strike="noStrike">
                <a:solidFill>
                  <a:srgbClr val="0E7C86"/>
                </a:solidFill>
                <a:effectLst/>
                <a:uFillTx/>
                <a:latin typeface="Georgia"/>
                <a:ea typeface="Georgia"/>
              </a:rPr>
              <a:t>26%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28;p17"/>
          <p:cNvSpPr/>
          <p:nvPr/>
        </p:nvSpPr>
        <p:spPr>
          <a:xfrm>
            <a:off x="7315200" y="1188720"/>
            <a:ext cx="1279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of all data breaches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in 2024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29;p17"/>
          <p:cNvSpPr/>
          <p:nvPr/>
        </p:nvSpPr>
        <p:spPr>
          <a:xfrm>
            <a:off x="6126480" y="1920240"/>
            <a:ext cx="2559960" cy="685440"/>
          </a:xfrm>
          <a:prstGeom prst="rect">
            <a:avLst/>
          </a:prstGeom>
          <a:solidFill>
            <a:srgbClr val="E6F5F6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Google Shape;130;p17"/>
          <p:cNvSpPr/>
          <p:nvPr/>
        </p:nvSpPr>
        <p:spPr>
          <a:xfrm>
            <a:off x="6263640" y="1938600"/>
            <a:ext cx="1279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800" b="1" u="none" strike="noStrike">
                <a:solidFill>
                  <a:srgbClr val="0E7C86"/>
                </a:solidFill>
                <a:effectLst/>
                <a:uFillTx/>
                <a:latin typeface="Georgia"/>
                <a:ea typeface="Georgia"/>
              </a:rPr>
              <a:t>2,600+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31;p17"/>
          <p:cNvSpPr/>
          <p:nvPr/>
        </p:nvSpPr>
        <p:spPr>
          <a:xfrm>
            <a:off x="7498080" y="2011680"/>
            <a:ext cx="1096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SQLi CVEs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in 2025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32;p17"/>
          <p:cNvSpPr/>
          <p:nvPr/>
        </p:nvSpPr>
        <p:spPr>
          <a:xfrm>
            <a:off x="548640" y="28803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5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How the Attack Flows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133;p17"/>
          <p:cNvSpPr/>
          <p:nvPr/>
        </p:nvSpPr>
        <p:spPr>
          <a:xfrm>
            <a:off x="548640" y="3337560"/>
            <a:ext cx="1919880" cy="127980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5" name="Google Shape;134;p17" descr="preencoded.png"/>
          <p:cNvPicPr/>
          <p:nvPr/>
        </p:nvPicPr>
        <p:blipFill>
          <a:blip r:embed="rId2"/>
          <a:stretch/>
        </p:blipFill>
        <p:spPr>
          <a:xfrm>
            <a:off x="1280160" y="34290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Google Shape;135;p17"/>
          <p:cNvSpPr/>
          <p:nvPr/>
        </p:nvSpPr>
        <p:spPr>
          <a:xfrm>
            <a:off x="640080" y="382212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2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Attacker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136;p17"/>
          <p:cNvSpPr/>
          <p:nvPr/>
        </p:nvSpPr>
        <p:spPr>
          <a:xfrm>
            <a:off x="640080" y="406908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Crafts malicious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SQL payload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137;p17" descr="preencoded.png"/>
          <p:cNvPicPr/>
          <p:nvPr/>
        </p:nvPicPr>
        <p:blipFill>
          <a:blip r:embed="rId3"/>
          <a:stretch/>
        </p:blipFill>
        <p:spPr>
          <a:xfrm>
            <a:off x="2514600" y="374904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Google Shape;138;p17"/>
          <p:cNvSpPr/>
          <p:nvPr/>
        </p:nvSpPr>
        <p:spPr>
          <a:xfrm>
            <a:off x="2743200" y="3337560"/>
            <a:ext cx="1919880" cy="127980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0" name="Google Shape;139;p17" descr="preencoded.png"/>
          <p:cNvPicPr/>
          <p:nvPr/>
        </p:nvPicPr>
        <p:blipFill>
          <a:blip r:embed="rId4"/>
          <a:stretch/>
        </p:blipFill>
        <p:spPr>
          <a:xfrm>
            <a:off x="3474720" y="34290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Google Shape;140;p17"/>
          <p:cNvSpPr/>
          <p:nvPr/>
        </p:nvSpPr>
        <p:spPr>
          <a:xfrm>
            <a:off x="2834640" y="382212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2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Web App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41;p17"/>
          <p:cNvSpPr/>
          <p:nvPr/>
        </p:nvSpPr>
        <p:spPr>
          <a:xfrm>
            <a:off x="2834640" y="406908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Passes unsanitized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input to query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Google Shape;142;p17" descr="preencoded.png"/>
          <p:cNvPicPr/>
          <p:nvPr/>
        </p:nvPicPr>
        <p:blipFill>
          <a:blip r:embed="rId5"/>
          <a:stretch/>
        </p:blipFill>
        <p:spPr>
          <a:xfrm>
            <a:off x="4709160" y="374904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Google Shape;143;p17"/>
          <p:cNvSpPr/>
          <p:nvPr/>
        </p:nvSpPr>
        <p:spPr>
          <a:xfrm>
            <a:off x="4937760" y="3337560"/>
            <a:ext cx="1919880" cy="127980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5" name="Google Shape;144;p17" descr="preencoded.png"/>
          <p:cNvPicPr/>
          <p:nvPr/>
        </p:nvPicPr>
        <p:blipFill>
          <a:blip r:embed="rId6"/>
          <a:stretch/>
        </p:blipFill>
        <p:spPr>
          <a:xfrm>
            <a:off x="5669280" y="34290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Google Shape;145;p17"/>
          <p:cNvSpPr/>
          <p:nvPr/>
        </p:nvSpPr>
        <p:spPr>
          <a:xfrm>
            <a:off x="5029200" y="382212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2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Database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146;p17"/>
          <p:cNvSpPr/>
          <p:nvPr/>
        </p:nvSpPr>
        <p:spPr>
          <a:xfrm>
            <a:off x="5029200" y="406908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Executes the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injected SQL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Google Shape;147;p17" descr="preencoded.png"/>
          <p:cNvPicPr/>
          <p:nvPr/>
        </p:nvPicPr>
        <p:blipFill>
          <a:blip r:embed="rId7"/>
          <a:stretch/>
        </p:blipFill>
        <p:spPr>
          <a:xfrm>
            <a:off x="6903720" y="374904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Google Shape;148;p17"/>
          <p:cNvSpPr/>
          <p:nvPr/>
        </p:nvSpPr>
        <p:spPr>
          <a:xfrm>
            <a:off x="7132320" y="3337560"/>
            <a:ext cx="1919880" cy="127980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0" name="Google Shape;149;p17" descr="preencoded.png"/>
          <p:cNvPicPr/>
          <p:nvPr/>
        </p:nvPicPr>
        <p:blipFill>
          <a:blip r:embed="rId8"/>
          <a:stretch/>
        </p:blipFill>
        <p:spPr>
          <a:xfrm>
            <a:off x="7863840" y="34290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Google Shape;150;p17"/>
          <p:cNvSpPr/>
          <p:nvPr/>
        </p:nvSpPr>
        <p:spPr>
          <a:xfrm>
            <a:off x="7223760" y="382212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2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Data Leaked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151;p17"/>
          <p:cNvSpPr/>
          <p:nvPr/>
        </p:nvSpPr>
        <p:spPr>
          <a:xfrm>
            <a:off x="7223760" y="406908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Sensitive data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exfiltrated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57;p18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360" bIns="36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Google Shape;158;p18"/>
          <p:cNvSpPr/>
          <p:nvPr/>
        </p:nvSpPr>
        <p:spPr>
          <a:xfrm>
            <a:off x="548640" y="3200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0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How SQL Injection Works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Google Shape;159;p18"/>
          <p:cNvSpPr/>
          <p:nvPr/>
        </p:nvSpPr>
        <p:spPr>
          <a:xfrm>
            <a:off x="548640" y="841320"/>
            <a:ext cx="2285640" cy="2700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3680" bIns="136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Google Shape;160;p18"/>
          <p:cNvSpPr/>
          <p:nvPr/>
        </p:nvSpPr>
        <p:spPr>
          <a:xfrm>
            <a:off x="548640" y="1097280"/>
            <a:ext cx="3840120" cy="182844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" name="Google Shape;161;p18"/>
          <p:cNvSpPr/>
          <p:nvPr/>
        </p:nvSpPr>
        <p:spPr>
          <a:xfrm>
            <a:off x="548640" y="1097280"/>
            <a:ext cx="3840120" cy="54360"/>
          </a:xfrm>
          <a:prstGeom prst="rect">
            <a:avLst/>
          </a:prstGeom>
          <a:solidFill>
            <a:srgbClr val="1A9E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7360" bIns="27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8" name="Google Shape;162;p18" descr="preencoded.png"/>
          <p:cNvPicPr/>
          <p:nvPr/>
        </p:nvPicPr>
        <p:blipFill>
          <a:blip r:embed="rId1"/>
          <a:stretch/>
        </p:blipFill>
        <p:spPr>
          <a:xfrm>
            <a:off x="731520" y="12801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Google Shape;163;p18"/>
          <p:cNvSpPr/>
          <p:nvPr/>
        </p:nvSpPr>
        <p:spPr>
          <a:xfrm>
            <a:off x="1097280" y="125280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1" u="none" strike="noStrike">
                <a:solidFill>
                  <a:srgbClr val="1A9E5C"/>
                </a:solidFill>
                <a:effectLst/>
                <a:uFillTx/>
                <a:latin typeface="Georgia"/>
                <a:ea typeface="Georgia"/>
              </a:rPr>
              <a:t>Normal Login Query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Google Shape;164;p18"/>
          <p:cNvSpPr/>
          <p:nvPr/>
        </p:nvSpPr>
        <p:spPr>
          <a:xfrm>
            <a:off x="731520" y="1691640"/>
            <a:ext cx="3474360" cy="365400"/>
          </a:xfrm>
          <a:prstGeom prst="rect">
            <a:avLst/>
          </a:prstGeom>
          <a:solidFill>
            <a:srgbClr val="F4F6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Google Shape;165;p18"/>
          <p:cNvSpPr/>
          <p:nvPr/>
        </p:nvSpPr>
        <p:spPr>
          <a:xfrm>
            <a:off x="822960" y="169164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1A9E5C"/>
                </a:solidFill>
                <a:effectLst/>
                <a:uFillTx/>
                <a:latin typeface="Consolas"/>
                <a:ea typeface="Consolas"/>
              </a:rPr>
              <a:t>User input:  admin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Google Shape;166;p18"/>
          <p:cNvSpPr/>
          <p:nvPr/>
        </p:nvSpPr>
        <p:spPr>
          <a:xfrm>
            <a:off x="731520" y="2148840"/>
            <a:ext cx="3474360" cy="639720"/>
          </a:xfrm>
          <a:prstGeom prst="rect">
            <a:avLst/>
          </a:prstGeom>
          <a:solidFill>
            <a:srgbClr val="F4F6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Google Shape;167;p18"/>
          <p:cNvSpPr/>
          <p:nvPr/>
        </p:nvSpPr>
        <p:spPr>
          <a:xfrm>
            <a:off x="822960" y="2194560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0E7C86"/>
                </a:solidFill>
                <a:effectLst/>
                <a:uFillTx/>
                <a:latin typeface="Consolas"/>
                <a:ea typeface="Consolas"/>
              </a:rPr>
              <a:t>SELECT * FROM users</a:t>
            </a:r>
            <a:br>
              <a:rPr sz="1100"/>
            </a:b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2D3748"/>
                </a:solidFill>
                <a:effectLst/>
                <a:uFillTx/>
                <a:latin typeface="Consolas"/>
                <a:ea typeface="Consolas"/>
              </a:rPr>
              <a:t>WHERE name = 'admin'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168;p18"/>
          <p:cNvSpPr/>
          <p:nvPr/>
        </p:nvSpPr>
        <p:spPr>
          <a:xfrm>
            <a:off x="4754880" y="1097280"/>
            <a:ext cx="3840120" cy="182844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Google Shape;169;p18"/>
          <p:cNvSpPr/>
          <p:nvPr/>
        </p:nvSpPr>
        <p:spPr>
          <a:xfrm>
            <a:off x="4754880" y="1097280"/>
            <a:ext cx="3840120" cy="54360"/>
          </a:xfrm>
          <a:prstGeom prst="rect">
            <a:avLst/>
          </a:prstGeom>
          <a:solidFill>
            <a:srgbClr val="E8870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7360" bIns="27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56" name="Google Shape;170;p18" descr="preencoded.png"/>
          <p:cNvPicPr/>
          <p:nvPr/>
        </p:nvPicPr>
        <p:blipFill>
          <a:blip r:embed="rId2"/>
          <a:stretch/>
        </p:blipFill>
        <p:spPr>
          <a:xfrm>
            <a:off x="4937760" y="12801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Google Shape;171;p18"/>
          <p:cNvSpPr/>
          <p:nvPr/>
        </p:nvSpPr>
        <p:spPr>
          <a:xfrm>
            <a:off x="5303520" y="125280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1" u="none" strike="noStrike">
                <a:solidFill>
                  <a:srgbClr val="E8870E"/>
                </a:solidFill>
                <a:effectLst/>
                <a:uFillTx/>
                <a:latin typeface="Georgia"/>
                <a:ea typeface="Georgia"/>
              </a:rPr>
              <a:t>Injected Malicious Query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172;p18"/>
          <p:cNvSpPr/>
          <p:nvPr/>
        </p:nvSpPr>
        <p:spPr>
          <a:xfrm>
            <a:off x="4937760" y="1691640"/>
            <a:ext cx="3474360" cy="365400"/>
          </a:xfrm>
          <a:prstGeom prst="rect">
            <a:avLst/>
          </a:prstGeom>
          <a:solidFill>
            <a:srgbClr val="F4F6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Google Shape;173;p18"/>
          <p:cNvSpPr/>
          <p:nvPr/>
        </p:nvSpPr>
        <p:spPr>
          <a:xfrm>
            <a:off x="5029200" y="169164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E8870E"/>
                </a:solidFill>
                <a:effectLst/>
                <a:uFillTx/>
                <a:latin typeface="Consolas"/>
                <a:ea typeface="Consolas"/>
              </a:rPr>
              <a:t>User input:  ' OR '1'='1' --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174;p18"/>
          <p:cNvSpPr/>
          <p:nvPr/>
        </p:nvSpPr>
        <p:spPr>
          <a:xfrm>
            <a:off x="4937760" y="2148840"/>
            <a:ext cx="3474360" cy="639720"/>
          </a:xfrm>
          <a:prstGeom prst="rect">
            <a:avLst/>
          </a:prstGeom>
          <a:solidFill>
            <a:srgbClr val="F4F6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" name="Google Shape;175;p18"/>
          <p:cNvSpPr/>
          <p:nvPr/>
        </p:nvSpPr>
        <p:spPr>
          <a:xfrm>
            <a:off x="5029200" y="2194560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0E7C86"/>
                </a:solidFill>
                <a:effectLst/>
                <a:uFillTx/>
                <a:latin typeface="Consolas"/>
                <a:ea typeface="Consolas"/>
              </a:rPr>
              <a:t>SELECT * FROM users</a:t>
            </a:r>
            <a:br>
              <a:rPr sz="1100"/>
            </a:b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E8870E"/>
                </a:solidFill>
                <a:effectLst/>
                <a:uFillTx/>
                <a:latin typeface="Consolas"/>
                <a:ea typeface="Consolas"/>
              </a:rPr>
              <a:t>WHERE name='' OR '1'='1' --'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Google Shape;176;p18"/>
          <p:cNvSpPr/>
          <p:nvPr/>
        </p:nvSpPr>
        <p:spPr>
          <a:xfrm>
            <a:off x="548640" y="32004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5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Why Does This Work?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177;p18"/>
          <p:cNvSpPr/>
          <p:nvPr/>
        </p:nvSpPr>
        <p:spPr>
          <a:xfrm>
            <a:off x="548640" y="3611880"/>
            <a:ext cx="8046360" cy="105120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" name="Google Shape;178;p18"/>
          <p:cNvSpPr/>
          <p:nvPr/>
        </p:nvSpPr>
        <p:spPr>
          <a:xfrm>
            <a:off x="731520" y="3657600"/>
            <a:ext cx="76806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The application concatenates user input directly into the SQL query string without sanitization.</a:t>
            </a:r>
            <a:br>
              <a:rPr sz="1200"/>
            </a:b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The injected  ' OR '1'='1'  condition always evaluates to TRUE, returning all rows.</a:t>
            </a:r>
            <a:br>
              <a:rPr sz="1200"/>
            </a:b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The double dash  --  comments out the remaining SQL, preventing syntax errors.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84;p19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360" bIns="36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Google Shape;185;p19"/>
          <p:cNvSpPr/>
          <p:nvPr/>
        </p:nvSpPr>
        <p:spPr>
          <a:xfrm>
            <a:off x="548640" y="3200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0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Types of SQL Injection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186;p19"/>
          <p:cNvSpPr/>
          <p:nvPr/>
        </p:nvSpPr>
        <p:spPr>
          <a:xfrm>
            <a:off x="548640" y="841320"/>
            <a:ext cx="2285640" cy="2700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3680" bIns="136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Google Shape;187;p19"/>
          <p:cNvSpPr/>
          <p:nvPr/>
        </p:nvSpPr>
        <p:spPr>
          <a:xfrm>
            <a:off x="457200" y="1097280"/>
            <a:ext cx="2651400" cy="361152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Google Shape;188;p19"/>
          <p:cNvSpPr/>
          <p:nvPr/>
        </p:nvSpPr>
        <p:spPr>
          <a:xfrm>
            <a:off x="457200" y="1097280"/>
            <a:ext cx="2651400" cy="5436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7360" bIns="27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70" name="Google Shape;189;p19" descr="preencoded.png"/>
          <p:cNvPicPr/>
          <p:nvPr/>
        </p:nvPicPr>
        <p:blipFill>
          <a:blip r:embed="rId1"/>
          <a:stretch/>
        </p:blipFill>
        <p:spPr>
          <a:xfrm>
            <a:off x="1508760" y="13258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Google Shape;190;p19"/>
          <p:cNvSpPr/>
          <p:nvPr/>
        </p:nvSpPr>
        <p:spPr>
          <a:xfrm>
            <a:off x="548640" y="182880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500" b="1" u="none" strike="noStrike">
                <a:solidFill>
                  <a:srgbClr val="0E7C86"/>
                </a:solidFill>
                <a:effectLst/>
                <a:uFillTx/>
                <a:latin typeface="Georgia"/>
                <a:ea typeface="Georgia"/>
              </a:rPr>
              <a:t>In-Band SQLi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191;p19"/>
          <p:cNvSpPr/>
          <p:nvPr/>
        </p:nvSpPr>
        <p:spPr>
          <a:xfrm>
            <a:off x="594360" y="2148840"/>
            <a:ext cx="2377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900" b="0" i="1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Most common type. Results are visible directly in the web response.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192;p19"/>
          <p:cNvSpPr/>
          <p:nvPr/>
        </p:nvSpPr>
        <p:spPr>
          <a:xfrm>
            <a:off x="548640" y="2788920"/>
            <a:ext cx="2468520" cy="822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Google Shape;193;p19"/>
          <p:cNvSpPr/>
          <p:nvPr/>
        </p:nvSpPr>
        <p:spPr>
          <a:xfrm>
            <a:off x="548640" y="2788920"/>
            <a:ext cx="45360" cy="82260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Google Shape;194;p19"/>
          <p:cNvSpPr/>
          <p:nvPr/>
        </p:nvSpPr>
        <p:spPr>
          <a:xfrm>
            <a:off x="685800" y="2834640"/>
            <a:ext cx="2239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Error-Based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195;p19"/>
          <p:cNvSpPr/>
          <p:nvPr/>
        </p:nvSpPr>
        <p:spPr>
          <a:xfrm>
            <a:off x="685800" y="310896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00" b="0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Forces DB errors to leak schema info such as table and column names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196;p19"/>
          <p:cNvSpPr/>
          <p:nvPr/>
        </p:nvSpPr>
        <p:spPr>
          <a:xfrm>
            <a:off x="548640" y="3749040"/>
            <a:ext cx="2468520" cy="822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8" name="Google Shape;197;p19"/>
          <p:cNvSpPr/>
          <p:nvPr/>
        </p:nvSpPr>
        <p:spPr>
          <a:xfrm>
            <a:off x="548640" y="3749040"/>
            <a:ext cx="45360" cy="82260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Google Shape;198;p19"/>
          <p:cNvSpPr/>
          <p:nvPr/>
        </p:nvSpPr>
        <p:spPr>
          <a:xfrm>
            <a:off x="685800" y="3794760"/>
            <a:ext cx="2239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Union-Based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Google Shape;199;p19"/>
          <p:cNvSpPr/>
          <p:nvPr/>
        </p:nvSpPr>
        <p:spPr>
          <a:xfrm>
            <a:off x="685800" y="406908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00" b="0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Uses UNION operator to combine malicious results with legitimate query output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Google Shape;200;p19"/>
          <p:cNvSpPr/>
          <p:nvPr/>
        </p:nvSpPr>
        <p:spPr>
          <a:xfrm>
            <a:off x="3337560" y="1097280"/>
            <a:ext cx="2651400" cy="361152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2" name="Google Shape;201;p19"/>
          <p:cNvSpPr/>
          <p:nvPr/>
        </p:nvSpPr>
        <p:spPr>
          <a:xfrm>
            <a:off x="3337560" y="1097280"/>
            <a:ext cx="2651400" cy="54360"/>
          </a:xfrm>
          <a:prstGeom prst="rect">
            <a:avLst/>
          </a:prstGeom>
          <a:solidFill>
            <a:srgbClr val="6C5CE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7360" bIns="27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83" name="Google Shape;202;p19" descr="preencoded.png"/>
          <p:cNvPicPr/>
          <p:nvPr/>
        </p:nvPicPr>
        <p:blipFill>
          <a:blip r:embed="rId2"/>
          <a:stretch/>
        </p:blipFill>
        <p:spPr>
          <a:xfrm>
            <a:off x="4389120" y="13258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Google Shape;203;p19"/>
          <p:cNvSpPr/>
          <p:nvPr/>
        </p:nvSpPr>
        <p:spPr>
          <a:xfrm>
            <a:off x="3429000" y="182880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500" b="1" u="none" strike="noStrike">
                <a:solidFill>
                  <a:srgbClr val="6C5CE7"/>
                </a:solidFill>
                <a:effectLst/>
                <a:uFillTx/>
                <a:latin typeface="Georgia"/>
                <a:ea typeface="Georgia"/>
              </a:rPr>
              <a:t>Blind SQLi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204;p19"/>
          <p:cNvSpPr/>
          <p:nvPr/>
        </p:nvSpPr>
        <p:spPr>
          <a:xfrm>
            <a:off x="3474720" y="2148840"/>
            <a:ext cx="2377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900" b="0" i="1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No visible output. Data inferred from app behavior or response timing.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205;p19"/>
          <p:cNvSpPr/>
          <p:nvPr/>
        </p:nvSpPr>
        <p:spPr>
          <a:xfrm>
            <a:off x="3429000" y="2788920"/>
            <a:ext cx="2468520" cy="822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Google Shape;206;p19"/>
          <p:cNvSpPr/>
          <p:nvPr/>
        </p:nvSpPr>
        <p:spPr>
          <a:xfrm>
            <a:off x="3429000" y="2788920"/>
            <a:ext cx="45360" cy="822600"/>
          </a:xfrm>
          <a:prstGeom prst="rect">
            <a:avLst/>
          </a:prstGeom>
          <a:solidFill>
            <a:srgbClr val="6C5CE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8" name="Google Shape;207;p19"/>
          <p:cNvSpPr/>
          <p:nvPr/>
        </p:nvSpPr>
        <p:spPr>
          <a:xfrm>
            <a:off x="3566160" y="2834640"/>
            <a:ext cx="2239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Boolean-Based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Google Shape;208;p19"/>
          <p:cNvSpPr/>
          <p:nvPr/>
        </p:nvSpPr>
        <p:spPr>
          <a:xfrm>
            <a:off x="3566160" y="310896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00" b="0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Sends true/false conditions and infers data from application behavior changes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209;p19"/>
          <p:cNvSpPr/>
          <p:nvPr/>
        </p:nvSpPr>
        <p:spPr>
          <a:xfrm>
            <a:off x="3429000" y="3749040"/>
            <a:ext cx="2468520" cy="822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1" name="Google Shape;210;p19"/>
          <p:cNvSpPr/>
          <p:nvPr/>
        </p:nvSpPr>
        <p:spPr>
          <a:xfrm>
            <a:off x="3429000" y="3749040"/>
            <a:ext cx="45360" cy="822600"/>
          </a:xfrm>
          <a:prstGeom prst="rect">
            <a:avLst/>
          </a:prstGeom>
          <a:solidFill>
            <a:srgbClr val="6C5CE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2" name="Google Shape;211;p19"/>
          <p:cNvSpPr/>
          <p:nvPr/>
        </p:nvSpPr>
        <p:spPr>
          <a:xfrm>
            <a:off x="3566160" y="3794760"/>
            <a:ext cx="2239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Time-Based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Google Shape;212;p19"/>
          <p:cNvSpPr/>
          <p:nvPr/>
        </p:nvSpPr>
        <p:spPr>
          <a:xfrm>
            <a:off x="3566160" y="406908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00" b="0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Uses SLEEP / WAITFOR to detect conditions via response time differences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Google Shape;213;p19"/>
          <p:cNvSpPr/>
          <p:nvPr/>
        </p:nvSpPr>
        <p:spPr>
          <a:xfrm>
            <a:off x="6217920" y="1097280"/>
            <a:ext cx="2651400" cy="361152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5" name="Google Shape;214;p19"/>
          <p:cNvSpPr/>
          <p:nvPr/>
        </p:nvSpPr>
        <p:spPr>
          <a:xfrm>
            <a:off x="6217920" y="1097280"/>
            <a:ext cx="2651400" cy="54360"/>
          </a:xfrm>
          <a:prstGeom prst="rect">
            <a:avLst/>
          </a:prstGeom>
          <a:solidFill>
            <a:srgbClr val="E8870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7360" bIns="27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96" name="Google Shape;215;p19" descr="preencoded.png"/>
          <p:cNvPicPr/>
          <p:nvPr/>
        </p:nvPicPr>
        <p:blipFill>
          <a:blip r:embed="rId3"/>
          <a:stretch/>
        </p:blipFill>
        <p:spPr>
          <a:xfrm>
            <a:off x="7269480" y="13258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Google Shape;216;p19"/>
          <p:cNvSpPr/>
          <p:nvPr/>
        </p:nvSpPr>
        <p:spPr>
          <a:xfrm>
            <a:off x="6309360" y="182880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500" b="1" u="none" strike="noStrike">
                <a:solidFill>
                  <a:srgbClr val="E8870E"/>
                </a:solidFill>
                <a:effectLst/>
                <a:uFillTx/>
                <a:latin typeface="Georgia"/>
                <a:ea typeface="Georgia"/>
              </a:rPr>
              <a:t>Out-of-Band SQLi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Google Shape;217;p19"/>
          <p:cNvSpPr/>
          <p:nvPr/>
        </p:nvSpPr>
        <p:spPr>
          <a:xfrm>
            <a:off x="6355080" y="2148840"/>
            <a:ext cx="2377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900" b="0" i="1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Data exfiltrated via a separate channel such as DNS or HTTP.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Google Shape;218;p19"/>
          <p:cNvSpPr/>
          <p:nvPr/>
        </p:nvSpPr>
        <p:spPr>
          <a:xfrm>
            <a:off x="6309360" y="2788920"/>
            <a:ext cx="2468520" cy="822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0" name="Google Shape;219;p19"/>
          <p:cNvSpPr/>
          <p:nvPr/>
        </p:nvSpPr>
        <p:spPr>
          <a:xfrm>
            <a:off x="6309360" y="2788920"/>
            <a:ext cx="45360" cy="822600"/>
          </a:xfrm>
          <a:prstGeom prst="rect">
            <a:avLst/>
          </a:prstGeom>
          <a:solidFill>
            <a:srgbClr val="E8870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1" name="Google Shape;220;p19"/>
          <p:cNvSpPr/>
          <p:nvPr/>
        </p:nvSpPr>
        <p:spPr>
          <a:xfrm>
            <a:off x="6446520" y="2834640"/>
            <a:ext cx="2239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DNS Exfiltration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Google Shape;221;p19"/>
          <p:cNvSpPr/>
          <p:nvPr/>
        </p:nvSpPr>
        <p:spPr>
          <a:xfrm>
            <a:off x="6446520" y="310896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00" b="0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DB initiates DNS lookup to attacker-controlled server carrying data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Google Shape;222;p19"/>
          <p:cNvSpPr/>
          <p:nvPr/>
        </p:nvSpPr>
        <p:spPr>
          <a:xfrm>
            <a:off x="6309360" y="3749040"/>
            <a:ext cx="2468520" cy="822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4" name="Google Shape;223;p19"/>
          <p:cNvSpPr/>
          <p:nvPr/>
        </p:nvSpPr>
        <p:spPr>
          <a:xfrm>
            <a:off x="6309360" y="3749040"/>
            <a:ext cx="45360" cy="822600"/>
          </a:xfrm>
          <a:prstGeom prst="rect">
            <a:avLst/>
          </a:prstGeom>
          <a:solidFill>
            <a:srgbClr val="E8870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680" rIns="226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5" name="Google Shape;224;p19"/>
          <p:cNvSpPr/>
          <p:nvPr/>
        </p:nvSpPr>
        <p:spPr>
          <a:xfrm>
            <a:off x="6446520" y="3794760"/>
            <a:ext cx="2239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HTTP Channel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Google Shape;225;p19"/>
          <p:cNvSpPr/>
          <p:nvPr/>
        </p:nvSpPr>
        <p:spPr>
          <a:xfrm>
            <a:off x="6446520" y="406908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00" b="0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DB sends HTTP request with extracted data to external endpoint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31;p2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360" bIns="36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8" name="Google Shape;232;p20"/>
          <p:cNvSpPr/>
          <p:nvPr/>
        </p:nvSpPr>
        <p:spPr>
          <a:xfrm>
            <a:off x="548640" y="3200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0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Real-World Breaches &amp; Impact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Google Shape;233;p20"/>
          <p:cNvSpPr/>
          <p:nvPr/>
        </p:nvSpPr>
        <p:spPr>
          <a:xfrm>
            <a:off x="548640" y="841320"/>
            <a:ext cx="2285640" cy="2700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3680" bIns="136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0" name="Google Shape;234;p20"/>
          <p:cNvSpPr/>
          <p:nvPr/>
        </p:nvSpPr>
        <p:spPr>
          <a:xfrm>
            <a:off x="548640" y="1097280"/>
            <a:ext cx="8046360" cy="82260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1" name="Google Shape;235;p20"/>
          <p:cNvSpPr/>
          <p:nvPr/>
        </p:nvSpPr>
        <p:spPr>
          <a:xfrm>
            <a:off x="548640" y="1097280"/>
            <a:ext cx="54360" cy="82260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2" name="Google Shape;236;p20"/>
          <p:cNvSpPr/>
          <p:nvPr/>
        </p:nvSpPr>
        <p:spPr>
          <a:xfrm>
            <a:off x="777240" y="1280160"/>
            <a:ext cx="685440" cy="456840"/>
          </a:xfrm>
          <a:prstGeom prst="rect">
            <a:avLst/>
          </a:prstGeom>
          <a:solidFill>
            <a:srgbClr val="E6F5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3" name="Google Shape;237;p20"/>
          <p:cNvSpPr/>
          <p:nvPr/>
        </p:nvSpPr>
        <p:spPr>
          <a:xfrm>
            <a:off x="777240" y="1280160"/>
            <a:ext cx="685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300" b="1" u="none" strike="noStrike">
                <a:solidFill>
                  <a:srgbClr val="0E7C86"/>
                </a:solidFill>
                <a:effectLst/>
                <a:uFillTx/>
                <a:latin typeface="Georgia"/>
                <a:ea typeface="Georgia"/>
              </a:rPr>
              <a:t>2023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Google Shape;238;p20"/>
          <p:cNvSpPr/>
          <p:nvPr/>
        </p:nvSpPr>
        <p:spPr>
          <a:xfrm>
            <a:off x="1645920" y="1170360"/>
            <a:ext cx="6766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MOVEit File Transfer Breach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Google Shape;239;p20"/>
          <p:cNvSpPr/>
          <p:nvPr/>
        </p:nvSpPr>
        <p:spPr>
          <a:xfrm>
            <a:off x="1645920" y="1481400"/>
            <a:ext cx="6766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Mass SQLi exploitation in a managed file transfer application. Thousands of organizations impacted globally, stolen data sold on dark web.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Google Shape;240;p20"/>
          <p:cNvSpPr/>
          <p:nvPr/>
        </p:nvSpPr>
        <p:spPr>
          <a:xfrm>
            <a:off x="548640" y="2057400"/>
            <a:ext cx="8046360" cy="82260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7" name="Google Shape;241;p20"/>
          <p:cNvSpPr/>
          <p:nvPr/>
        </p:nvSpPr>
        <p:spPr>
          <a:xfrm>
            <a:off x="548640" y="2057400"/>
            <a:ext cx="54360" cy="822600"/>
          </a:xfrm>
          <a:prstGeom prst="rect">
            <a:avLst/>
          </a:prstGeom>
          <a:solidFill>
            <a:srgbClr val="6C5CE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8" name="Google Shape;242;p20"/>
          <p:cNvSpPr/>
          <p:nvPr/>
        </p:nvSpPr>
        <p:spPr>
          <a:xfrm>
            <a:off x="777240" y="2240280"/>
            <a:ext cx="685440" cy="456840"/>
          </a:xfrm>
          <a:prstGeom prst="rect">
            <a:avLst/>
          </a:prstGeom>
          <a:solidFill>
            <a:srgbClr val="E6F5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9" name="Google Shape;243;p20"/>
          <p:cNvSpPr/>
          <p:nvPr/>
        </p:nvSpPr>
        <p:spPr>
          <a:xfrm>
            <a:off x="777240" y="2240280"/>
            <a:ext cx="685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300" b="1" u="none" strike="noStrike">
                <a:solidFill>
                  <a:srgbClr val="6C5CE7"/>
                </a:solidFill>
                <a:effectLst/>
                <a:uFillTx/>
                <a:latin typeface="Georgia"/>
                <a:ea typeface="Georgia"/>
              </a:rPr>
              <a:t>2024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Google Shape;244;p20"/>
          <p:cNvSpPr/>
          <p:nvPr/>
        </p:nvSpPr>
        <p:spPr>
          <a:xfrm>
            <a:off x="1645920" y="2130480"/>
            <a:ext cx="6766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BeyondTrust + PostgreSQL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Google Shape;245;p20"/>
          <p:cNvSpPr/>
          <p:nvPr/>
        </p:nvSpPr>
        <p:spPr>
          <a:xfrm>
            <a:off x="1645920" y="2441520"/>
            <a:ext cx="6766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Zero-day SQLi in BeyondTrust PRA/RS products combined with PostgreSQL vulnerability (CVE-2025-1094). Targeted US government agencies.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Google Shape;246;p20"/>
          <p:cNvSpPr/>
          <p:nvPr/>
        </p:nvSpPr>
        <p:spPr>
          <a:xfrm>
            <a:off x="548640" y="3017520"/>
            <a:ext cx="8046360" cy="82260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3" name="Google Shape;247;p20"/>
          <p:cNvSpPr/>
          <p:nvPr/>
        </p:nvSpPr>
        <p:spPr>
          <a:xfrm>
            <a:off x="548640" y="3017520"/>
            <a:ext cx="54360" cy="822600"/>
          </a:xfrm>
          <a:prstGeom prst="rect">
            <a:avLst/>
          </a:prstGeom>
          <a:solidFill>
            <a:srgbClr val="E8870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4" name="Google Shape;248;p20"/>
          <p:cNvSpPr/>
          <p:nvPr/>
        </p:nvSpPr>
        <p:spPr>
          <a:xfrm>
            <a:off x="777240" y="3200400"/>
            <a:ext cx="685440" cy="456840"/>
          </a:xfrm>
          <a:prstGeom prst="rect">
            <a:avLst/>
          </a:prstGeom>
          <a:solidFill>
            <a:srgbClr val="E6F5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5" name="Google Shape;249;p20"/>
          <p:cNvSpPr/>
          <p:nvPr/>
        </p:nvSpPr>
        <p:spPr>
          <a:xfrm>
            <a:off x="777240" y="3200400"/>
            <a:ext cx="685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300" b="1" u="none" strike="noStrike">
                <a:solidFill>
                  <a:srgbClr val="E8870E"/>
                </a:solidFill>
                <a:effectLst/>
                <a:uFillTx/>
                <a:latin typeface="Georgia"/>
                <a:ea typeface="Georgia"/>
              </a:rPr>
              <a:t>2025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Google Shape;250;p20"/>
          <p:cNvSpPr/>
          <p:nvPr/>
        </p:nvSpPr>
        <p:spPr>
          <a:xfrm>
            <a:off x="1645920" y="3090600"/>
            <a:ext cx="6766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Major Retail Chain Breach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Google Shape;251;p20"/>
          <p:cNvSpPr/>
          <p:nvPr/>
        </p:nvSpPr>
        <p:spPr>
          <a:xfrm>
            <a:off x="1645920" y="3401640"/>
            <a:ext cx="6766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Attackers exploited SQL injection to extract credit card data and personal details of millions of customers from a major retailer.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Google Shape;252;p20"/>
          <p:cNvSpPr/>
          <p:nvPr/>
        </p:nvSpPr>
        <p:spPr>
          <a:xfrm>
            <a:off x="548640" y="3977640"/>
            <a:ext cx="8046360" cy="82260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9" name="Google Shape;253;p20"/>
          <p:cNvSpPr/>
          <p:nvPr/>
        </p:nvSpPr>
        <p:spPr>
          <a:xfrm>
            <a:off x="548640" y="3977640"/>
            <a:ext cx="54360" cy="82260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0" name="Google Shape;254;p20"/>
          <p:cNvSpPr/>
          <p:nvPr/>
        </p:nvSpPr>
        <p:spPr>
          <a:xfrm>
            <a:off x="777240" y="4160520"/>
            <a:ext cx="685440" cy="456840"/>
          </a:xfrm>
          <a:prstGeom prst="rect">
            <a:avLst/>
          </a:prstGeom>
          <a:solidFill>
            <a:srgbClr val="E6F5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1" name="Google Shape;255;p20"/>
          <p:cNvSpPr/>
          <p:nvPr/>
        </p:nvSpPr>
        <p:spPr>
          <a:xfrm>
            <a:off x="777240" y="4160520"/>
            <a:ext cx="685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300" b="1" u="none" strike="noStrike">
                <a:solidFill>
                  <a:srgbClr val="0E7C86"/>
                </a:solidFill>
                <a:effectLst/>
                <a:uFillTx/>
                <a:latin typeface="Georgia"/>
                <a:ea typeface="Georgia"/>
              </a:rPr>
              <a:t>2025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Google Shape;256;p20"/>
          <p:cNvSpPr/>
          <p:nvPr/>
        </p:nvSpPr>
        <p:spPr>
          <a:xfrm>
            <a:off x="1645920" y="4050720"/>
            <a:ext cx="6766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GenAI-Generated Code Vulnerability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Google Shape;257;p20"/>
          <p:cNvSpPr/>
          <p:nvPr/>
        </p:nvSpPr>
        <p:spPr>
          <a:xfrm>
            <a:off x="1645920" y="4361760"/>
            <a:ext cx="6766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A startup deployed AI-generated code with unvalidated SQL queries. 3,200 user records exposed within 48 hours of launch.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63;p21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360" bIns="36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5" name="Google Shape;264;p21"/>
          <p:cNvSpPr/>
          <p:nvPr/>
        </p:nvSpPr>
        <p:spPr>
          <a:xfrm>
            <a:off x="548640" y="3200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0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Attack Methodology Deep Dive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Google Shape;265;p21"/>
          <p:cNvSpPr/>
          <p:nvPr/>
        </p:nvSpPr>
        <p:spPr>
          <a:xfrm>
            <a:off x="548640" y="841320"/>
            <a:ext cx="2285640" cy="2700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3680" bIns="136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7" name="Google Shape;266;p21"/>
          <p:cNvSpPr/>
          <p:nvPr/>
        </p:nvSpPr>
        <p:spPr>
          <a:xfrm>
            <a:off x="548640" y="1051560"/>
            <a:ext cx="8046360" cy="65808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8" name="Google Shape;267;p21"/>
          <p:cNvSpPr/>
          <p:nvPr/>
        </p:nvSpPr>
        <p:spPr>
          <a:xfrm>
            <a:off x="685800" y="1161360"/>
            <a:ext cx="438480" cy="438480"/>
          </a:xfrm>
          <a:prstGeom prst="ellipse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9" name="Google Shape;268;p21"/>
          <p:cNvSpPr/>
          <p:nvPr/>
        </p:nvSpPr>
        <p:spPr>
          <a:xfrm>
            <a:off x="685800" y="116136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0" name="Google Shape;269;p21" descr="preencoded.png"/>
          <p:cNvPicPr/>
          <p:nvPr/>
        </p:nvPicPr>
        <p:blipFill>
          <a:blip r:embed="rId1"/>
          <a:stretch/>
        </p:blipFill>
        <p:spPr>
          <a:xfrm>
            <a:off x="1280160" y="119772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Google Shape;270;p21"/>
          <p:cNvSpPr/>
          <p:nvPr/>
        </p:nvSpPr>
        <p:spPr>
          <a:xfrm>
            <a:off x="1737360" y="1106280"/>
            <a:ext cx="6674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Reconnaissance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271;p21"/>
          <p:cNvSpPr/>
          <p:nvPr/>
        </p:nvSpPr>
        <p:spPr>
          <a:xfrm>
            <a:off x="1737360" y="1380600"/>
            <a:ext cx="6674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Identify input fields that interact with the database (login forms, search bars, URL parameters, cookies).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Google Shape;272;p21"/>
          <p:cNvSpPr/>
          <p:nvPr/>
        </p:nvSpPr>
        <p:spPr>
          <a:xfrm>
            <a:off x="548640" y="1828800"/>
            <a:ext cx="8046360" cy="65808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4" name="Google Shape;273;p21"/>
          <p:cNvSpPr/>
          <p:nvPr/>
        </p:nvSpPr>
        <p:spPr>
          <a:xfrm>
            <a:off x="685800" y="1938600"/>
            <a:ext cx="438480" cy="438480"/>
          </a:xfrm>
          <a:prstGeom prst="ellipse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5" name="Google Shape;274;p21"/>
          <p:cNvSpPr/>
          <p:nvPr/>
        </p:nvSpPr>
        <p:spPr>
          <a:xfrm>
            <a:off x="685800" y="193860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6" name="Google Shape;275;p21" descr="preencoded.png"/>
          <p:cNvPicPr/>
          <p:nvPr/>
        </p:nvPicPr>
        <p:blipFill>
          <a:blip r:embed="rId2"/>
          <a:stretch/>
        </p:blipFill>
        <p:spPr>
          <a:xfrm>
            <a:off x="1280160" y="19749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Google Shape;276;p21"/>
          <p:cNvSpPr/>
          <p:nvPr/>
        </p:nvSpPr>
        <p:spPr>
          <a:xfrm>
            <a:off x="1737360" y="1883520"/>
            <a:ext cx="6674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Testing &amp; Detection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Google Shape;277;p21"/>
          <p:cNvSpPr/>
          <p:nvPr/>
        </p:nvSpPr>
        <p:spPr>
          <a:xfrm>
            <a:off x="1737360" y="2157840"/>
            <a:ext cx="6674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Inject special characters (single quotes, semicolons) and observe error messages or behavioral changes.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Google Shape;278;p21"/>
          <p:cNvSpPr/>
          <p:nvPr/>
        </p:nvSpPr>
        <p:spPr>
          <a:xfrm>
            <a:off x="548640" y="2606040"/>
            <a:ext cx="8046360" cy="65808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0" name="Google Shape;279;p21"/>
          <p:cNvSpPr/>
          <p:nvPr/>
        </p:nvSpPr>
        <p:spPr>
          <a:xfrm>
            <a:off x="685800" y="2715840"/>
            <a:ext cx="438480" cy="438480"/>
          </a:xfrm>
          <a:prstGeom prst="ellipse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1" name="Google Shape;280;p21"/>
          <p:cNvSpPr/>
          <p:nvPr/>
        </p:nvSpPr>
        <p:spPr>
          <a:xfrm>
            <a:off x="685800" y="271584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2" name="Google Shape;281;p21" descr="preencoded.png"/>
          <p:cNvPicPr/>
          <p:nvPr/>
        </p:nvPicPr>
        <p:blipFill>
          <a:blip r:embed="rId3"/>
          <a:stretch/>
        </p:blipFill>
        <p:spPr>
          <a:xfrm>
            <a:off x="1280160" y="27522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" name="Google Shape;282;p21"/>
          <p:cNvSpPr/>
          <p:nvPr/>
        </p:nvSpPr>
        <p:spPr>
          <a:xfrm>
            <a:off x="1737360" y="2660760"/>
            <a:ext cx="6674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Exploitation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Google Shape;283;p21"/>
          <p:cNvSpPr/>
          <p:nvPr/>
        </p:nvSpPr>
        <p:spPr>
          <a:xfrm>
            <a:off x="1737360" y="2935080"/>
            <a:ext cx="6674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Craft payloads to extract data, bypass authentication, or manipulate database records using UNION, subqueries, or stacked queries.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Google Shape;284;p21"/>
          <p:cNvSpPr/>
          <p:nvPr/>
        </p:nvSpPr>
        <p:spPr>
          <a:xfrm>
            <a:off x="548640" y="3383280"/>
            <a:ext cx="8046360" cy="65808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6" name="Google Shape;285;p21"/>
          <p:cNvSpPr/>
          <p:nvPr/>
        </p:nvSpPr>
        <p:spPr>
          <a:xfrm>
            <a:off x="685800" y="3493080"/>
            <a:ext cx="438480" cy="438480"/>
          </a:xfrm>
          <a:prstGeom prst="ellipse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7" name="Google Shape;286;p21"/>
          <p:cNvSpPr/>
          <p:nvPr/>
        </p:nvSpPr>
        <p:spPr>
          <a:xfrm>
            <a:off x="685800" y="349308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8" name="Google Shape;287;p21" descr="preencoded.png"/>
          <p:cNvPicPr/>
          <p:nvPr/>
        </p:nvPicPr>
        <p:blipFill>
          <a:blip r:embed="rId4"/>
          <a:stretch/>
        </p:blipFill>
        <p:spPr>
          <a:xfrm>
            <a:off x="1280160" y="352944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Google Shape;288;p21"/>
          <p:cNvSpPr/>
          <p:nvPr/>
        </p:nvSpPr>
        <p:spPr>
          <a:xfrm>
            <a:off x="1737360" y="3438000"/>
            <a:ext cx="6674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Privilege Escalation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289;p21"/>
          <p:cNvSpPr/>
          <p:nvPr/>
        </p:nvSpPr>
        <p:spPr>
          <a:xfrm>
            <a:off x="1737360" y="3712320"/>
            <a:ext cx="6674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Attempt to read system tables, access admin credentials, or execute OS commands via database functions like xp_cmdshell.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Google Shape;290;p21"/>
          <p:cNvSpPr/>
          <p:nvPr/>
        </p:nvSpPr>
        <p:spPr>
          <a:xfrm>
            <a:off x="548640" y="4160520"/>
            <a:ext cx="8046360" cy="65808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2" name="Google Shape;291;p21"/>
          <p:cNvSpPr/>
          <p:nvPr/>
        </p:nvSpPr>
        <p:spPr>
          <a:xfrm>
            <a:off x="685800" y="4270320"/>
            <a:ext cx="438480" cy="438480"/>
          </a:xfrm>
          <a:prstGeom prst="ellipse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3" name="Google Shape;292;p21"/>
          <p:cNvSpPr/>
          <p:nvPr/>
        </p:nvSpPr>
        <p:spPr>
          <a:xfrm>
            <a:off x="685800" y="427032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4" name="Google Shape;293;p21" descr="preencoded.png"/>
          <p:cNvPicPr/>
          <p:nvPr/>
        </p:nvPicPr>
        <p:blipFill>
          <a:blip r:embed="rId5"/>
          <a:stretch/>
        </p:blipFill>
        <p:spPr>
          <a:xfrm>
            <a:off x="1280160" y="43066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5" name="Google Shape;294;p21"/>
          <p:cNvSpPr/>
          <p:nvPr/>
        </p:nvSpPr>
        <p:spPr>
          <a:xfrm>
            <a:off x="1737360" y="4215240"/>
            <a:ext cx="6674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Data Exfiltration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295;p21"/>
          <p:cNvSpPr/>
          <p:nvPr/>
        </p:nvSpPr>
        <p:spPr>
          <a:xfrm>
            <a:off x="1737360" y="4489560"/>
            <a:ext cx="6674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Extract sensitive data (credentials, PII, financial records) through in-band responses, error messages, or out-of-band channels.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301;p22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360" bIns="36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8" name="Google Shape;302;p22"/>
          <p:cNvSpPr/>
          <p:nvPr/>
        </p:nvSpPr>
        <p:spPr>
          <a:xfrm>
            <a:off x="548640" y="3200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0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Vulnerable vs. Secure Code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Google Shape;303;p22"/>
          <p:cNvSpPr/>
          <p:nvPr/>
        </p:nvSpPr>
        <p:spPr>
          <a:xfrm>
            <a:off x="548640" y="841320"/>
            <a:ext cx="2285640" cy="2700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3680" bIns="136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0" name="Google Shape;304;p22"/>
          <p:cNvSpPr/>
          <p:nvPr/>
        </p:nvSpPr>
        <p:spPr>
          <a:xfrm>
            <a:off x="548640" y="1097280"/>
            <a:ext cx="8046360" cy="146268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1" name="Google Shape;305;p22"/>
          <p:cNvSpPr/>
          <p:nvPr/>
        </p:nvSpPr>
        <p:spPr>
          <a:xfrm>
            <a:off x="548640" y="1097280"/>
            <a:ext cx="8046360" cy="54360"/>
          </a:xfrm>
          <a:prstGeom prst="rect">
            <a:avLst/>
          </a:prstGeom>
          <a:solidFill>
            <a:srgbClr val="E8870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7360" bIns="27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72" name="Google Shape;306;p22" descr="preencoded.png"/>
          <p:cNvPicPr/>
          <p:nvPr/>
        </p:nvPicPr>
        <p:blipFill>
          <a:blip r:embed="rId1"/>
          <a:stretch/>
        </p:blipFill>
        <p:spPr>
          <a:xfrm>
            <a:off x="731520" y="12801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Google Shape;307;p22"/>
          <p:cNvSpPr/>
          <p:nvPr/>
        </p:nvSpPr>
        <p:spPr>
          <a:xfrm>
            <a:off x="1097280" y="1261800"/>
            <a:ext cx="7131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300" b="1" u="none" strike="noStrike">
                <a:solidFill>
                  <a:srgbClr val="E8870E"/>
                </a:solidFill>
                <a:effectLst/>
                <a:uFillTx/>
                <a:latin typeface="Georgia"/>
                <a:ea typeface="Georgia"/>
              </a:rPr>
              <a:t>Vulnerable Code (PHP) - Direct String Concatenation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Google Shape;308;p22"/>
          <p:cNvSpPr/>
          <p:nvPr/>
        </p:nvSpPr>
        <p:spPr>
          <a:xfrm>
            <a:off x="731520" y="1691640"/>
            <a:ext cx="7680600" cy="731160"/>
          </a:xfrm>
          <a:prstGeom prst="rect">
            <a:avLst/>
          </a:prstGeom>
          <a:solidFill>
            <a:srgbClr val="F4F6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5" name="Google Shape;309;p22"/>
          <p:cNvSpPr/>
          <p:nvPr/>
        </p:nvSpPr>
        <p:spPr>
          <a:xfrm>
            <a:off x="868680" y="1737360"/>
            <a:ext cx="7406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6B7A90"/>
                </a:solidFill>
                <a:effectLst/>
                <a:uFillTx/>
                <a:latin typeface="Consolas"/>
                <a:ea typeface="Consolas"/>
              </a:rPr>
              <a:t>$username = $_GET['user'];  // Unsanitized input</a:t>
            </a:r>
            <a:br>
              <a:rPr sz="1100"/>
            </a:b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E8870E"/>
                </a:solidFill>
                <a:effectLst/>
                <a:uFillTx/>
                <a:latin typeface="Consolas"/>
                <a:ea typeface="Consolas"/>
              </a:rPr>
              <a:t>$query = "SELECT * FROM users WHERE name='" . $username . "'";</a:t>
            </a:r>
            <a:br>
              <a:rPr sz="1100"/>
            </a:b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6B7A90"/>
                </a:solidFill>
                <a:effectLst/>
                <a:uFillTx/>
                <a:latin typeface="Consolas"/>
                <a:ea typeface="Consolas"/>
              </a:rPr>
              <a:t>$result = mysqli_query($conn, $query);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Google Shape;310;p22"/>
          <p:cNvSpPr/>
          <p:nvPr/>
        </p:nvSpPr>
        <p:spPr>
          <a:xfrm>
            <a:off x="548640" y="2788920"/>
            <a:ext cx="8046360" cy="146268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7" name="Google Shape;311;p22"/>
          <p:cNvSpPr/>
          <p:nvPr/>
        </p:nvSpPr>
        <p:spPr>
          <a:xfrm>
            <a:off x="548640" y="2788920"/>
            <a:ext cx="8046360" cy="54360"/>
          </a:xfrm>
          <a:prstGeom prst="rect">
            <a:avLst/>
          </a:prstGeom>
          <a:solidFill>
            <a:srgbClr val="1A9E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7360" bIns="27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78" name="Google Shape;312;p22" descr="preencoded.png"/>
          <p:cNvPicPr/>
          <p:nvPr/>
        </p:nvPicPr>
        <p:blipFill>
          <a:blip r:embed="rId2"/>
          <a:stretch/>
        </p:blipFill>
        <p:spPr>
          <a:xfrm>
            <a:off x="731520" y="29718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Google Shape;313;p22"/>
          <p:cNvSpPr/>
          <p:nvPr/>
        </p:nvSpPr>
        <p:spPr>
          <a:xfrm>
            <a:off x="1097280" y="2953440"/>
            <a:ext cx="7131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300" b="1" u="none" strike="noStrike">
                <a:solidFill>
                  <a:srgbClr val="1A9E5C"/>
                </a:solidFill>
                <a:effectLst/>
                <a:uFillTx/>
                <a:latin typeface="Georgia"/>
                <a:ea typeface="Georgia"/>
              </a:rPr>
              <a:t>Secure Code (PHP) - Parameterized Query / Prepared Statement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Google Shape;314;p22"/>
          <p:cNvSpPr/>
          <p:nvPr/>
        </p:nvSpPr>
        <p:spPr>
          <a:xfrm>
            <a:off x="731520" y="3383280"/>
            <a:ext cx="7680600" cy="731160"/>
          </a:xfrm>
          <a:prstGeom prst="rect">
            <a:avLst/>
          </a:prstGeom>
          <a:solidFill>
            <a:srgbClr val="F4F6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1" name="Google Shape;315;p22"/>
          <p:cNvSpPr/>
          <p:nvPr/>
        </p:nvSpPr>
        <p:spPr>
          <a:xfrm>
            <a:off x="868680" y="3429000"/>
            <a:ext cx="7406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1A9E5C"/>
                </a:solidFill>
                <a:effectLst/>
                <a:uFillTx/>
                <a:latin typeface="Consolas"/>
                <a:ea typeface="Consolas"/>
              </a:rPr>
              <a:t>$stmt = $pdo-&gt;prepare("SELECT * FROM users WHERE name = ?");</a:t>
            </a:r>
            <a:br>
              <a:rPr sz="1100"/>
            </a:b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1A9E5C"/>
                </a:solidFill>
                <a:effectLst/>
                <a:uFillTx/>
                <a:latin typeface="Consolas"/>
                <a:ea typeface="Consolas"/>
              </a:rPr>
              <a:t>$stmt-&gt;execute([$_GET['user']]);  // Input treated as data, not code</a:t>
            </a:r>
            <a:br>
              <a:rPr sz="1100"/>
            </a:b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1A9E5C"/>
                </a:solidFill>
                <a:effectLst/>
                <a:uFillTx/>
                <a:latin typeface="Consolas"/>
                <a:ea typeface="Consolas"/>
              </a:rPr>
              <a:t>$result = $stmt-&gt;fetchAll();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Google Shape;316;p22"/>
          <p:cNvSpPr/>
          <p:nvPr/>
        </p:nvSpPr>
        <p:spPr>
          <a:xfrm>
            <a:off x="548640" y="4434840"/>
            <a:ext cx="8046360" cy="456840"/>
          </a:xfrm>
          <a:prstGeom prst="rect">
            <a:avLst/>
          </a:prstGeom>
          <a:solidFill>
            <a:srgbClr val="E6F5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83" name="Google Shape;317;p22" descr="preencoded.png"/>
          <p:cNvPicPr/>
          <p:nvPr/>
        </p:nvPicPr>
        <p:blipFill>
          <a:blip r:embed="rId3"/>
          <a:stretch/>
        </p:blipFill>
        <p:spPr>
          <a:xfrm>
            <a:off x="731520" y="44805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Google Shape;318;p22"/>
          <p:cNvSpPr/>
          <p:nvPr/>
        </p:nvSpPr>
        <p:spPr>
          <a:xfrm>
            <a:off x="1097280" y="443484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0" i="1" u="none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Prepared statements separate SQL logic from user data, making injection structurally impossible.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"/>
          <p:cNvSpPr/>
          <p:nvPr/>
        </p:nvSpPr>
        <p:spPr>
          <a:xfrm>
            <a:off x="548640" y="18288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How ' OR 1=1 -- Works Internally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2"/>
          <p:cNvSpPr/>
          <p:nvPr/>
        </p:nvSpPr>
        <p:spPr>
          <a:xfrm>
            <a:off x="548640" y="749520"/>
            <a:ext cx="2560320" cy="360"/>
          </a:xfrm>
          <a:prstGeom prst="line">
            <a:avLst/>
          </a:prstGeom>
          <a:ln w="38100">
            <a:solidFill>
              <a:srgbClr val="0E7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3"/>
          <p:cNvSpPr/>
          <p:nvPr/>
        </p:nvSpPr>
        <p:spPr>
          <a:xfrm>
            <a:off x="548640" y="1051560"/>
            <a:ext cx="292320" cy="292320"/>
          </a:xfrm>
          <a:prstGeom prst="ellipse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4"/>
          <p:cNvSpPr/>
          <p:nvPr/>
        </p:nvSpPr>
        <p:spPr>
          <a:xfrm>
            <a:off x="548640" y="10515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5"/>
          <p:cNvSpPr/>
          <p:nvPr/>
        </p:nvSpPr>
        <p:spPr>
          <a:xfrm>
            <a:off x="960120" y="1033200"/>
            <a:ext cx="4571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You type the payload in the login form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6"/>
          <p:cNvSpPr/>
          <p:nvPr/>
        </p:nvSpPr>
        <p:spPr>
          <a:xfrm>
            <a:off x="548640" y="1463040"/>
            <a:ext cx="3748680" cy="54828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7"/>
          <p:cNvSpPr/>
          <p:nvPr/>
        </p:nvSpPr>
        <p:spPr>
          <a:xfrm>
            <a:off x="685800" y="144468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ROLL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8"/>
          <p:cNvSpPr/>
          <p:nvPr/>
        </p:nvSpPr>
        <p:spPr>
          <a:xfrm>
            <a:off x="685800" y="164592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62828"/>
                </a:solidFill>
                <a:effectLst/>
                <a:uFillTx/>
                <a:latin typeface="Consolas"/>
                <a:ea typeface="Consolas"/>
              </a:rPr>
              <a:t>' OR 1=1 --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9"/>
          <p:cNvSpPr/>
          <p:nvPr/>
        </p:nvSpPr>
        <p:spPr>
          <a:xfrm>
            <a:off x="4480560" y="1463040"/>
            <a:ext cx="2285640" cy="54828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0"/>
          <p:cNvSpPr/>
          <p:nvPr/>
        </p:nvSpPr>
        <p:spPr>
          <a:xfrm>
            <a:off x="4617720" y="144468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PASSWORD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1"/>
          <p:cNvSpPr/>
          <p:nvPr/>
        </p:nvSpPr>
        <p:spPr>
          <a:xfrm>
            <a:off x="4617720" y="164592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333333"/>
                </a:solidFill>
                <a:effectLst/>
                <a:uFillTx/>
                <a:latin typeface="Consolas"/>
                <a:ea typeface="Consolas"/>
              </a:rPr>
              <a:t>anything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2"/>
          <p:cNvSpPr/>
          <p:nvPr/>
        </p:nvSpPr>
        <p:spPr>
          <a:xfrm>
            <a:off x="548640" y="210312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The browser sends these values to the Flask server via HTTP POST. No validation, no sanitization.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3"/>
          <p:cNvSpPr/>
          <p:nvPr/>
        </p:nvSpPr>
        <p:spPr>
          <a:xfrm>
            <a:off x="548640" y="2560320"/>
            <a:ext cx="292320" cy="292320"/>
          </a:xfrm>
          <a:prstGeom prst="ellipse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4"/>
          <p:cNvSpPr/>
          <p:nvPr/>
        </p:nvSpPr>
        <p:spPr>
          <a:xfrm>
            <a:off x="548640" y="25603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5"/>
          <p:cNvSpPr/>
          <p:nvPr/>
        </p:nvSpPr>
        <p:spPr>
          <a:xfrm>
            <a:off x="960120" y="2541960"/>
            <a:ext cx="6400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Server builds the SQL query via string concatenation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16"/>
          <p:cNvSpPr/>
          <p:nvPr/>
        </p:nvSpPr>
        <p:spPr>
          <a:xfrm>
            <a:off x="548640" y="2971800"/>
            <a:ext cx="8046360" cy="456840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270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7"/>
          <p:cNvSpPr/>
          <p:nvPr/>
        </p:nvSpPr>
        <p:spPr>
          <a:xfrm>
            <a:off x="685800" y="2990160"/>
            <a:ext cx="7772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onsolas"/>
                <a:ea typeface="Consolas"/>
              </a:rPr>
              <a:t>query = f"SELECT * FROM students WHERE roll_number = '</a:t>
            </a:r>
            <a:r>
              <a:rPr lang="en-US" sz="1000" b="1" u="none" strike="noStrike">
                <a:solidFill>
                  <a:srgbClr val="C62828"/>
                </a:solidFill>
                <a:effectLst/>
                <a:uFillTx/>
                <a:latin typeface="Consolas"/>
                <a:ea typeface="Consolas"/>
              </a:rPr>
              <a:t>{username}</a:t>
            </a: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onsolas"/>
                <a:ea typeface="Consolas"/>
              </a:rPr>
              <a:t>' AND password = '</a:t>
            </a:r>
            <a:r>
              <a:rPr lang="en-US" sz="1000" b="1" u="none" strike="noStrike">
                <a:solidFill>
                  <a:srgbClr val="C62828"/>
                </a:solidFill>
                <a:effectLst/>
                <a:uFillTx/>
                <a:latin typeface="Consolas"/>
                <a:ea typeface="Consolas"/>
              </a:rPr>
              <a:t>{password}</a:t>
            </a: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onsolas"/>
                <a:ea typeface="Consolas"/>
              </a:rPr>
              <a:t>'"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8"/>
          <p:cNvSpPr/>
          <p:nvPr/>
        </p:nvSpPr>
        <p:spPr>
          <a:xfrm>
            <a:off x="548640" y="352044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After substitution, the actual SQL becomes: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9"/>
          <p:cNvSpPr/>
          <p:nvPr/>
        </p:nvSpPr>
        <p:spPr>
          <a:xfrm>
            <a:off x="548640" y="3794760"/>
            <a:ext cx="8046360" cy="456840"/>
          </a:xfrm>
          <a:prstGeom prst="roundRect">
            <a:avLst>
              <a:gd name="adj" fmla="val 12000"/>
            </a:avLst>
          </a:prstGeom>
          <a:solidFill>
            <a:srgbClr val="FFF8E1"/>
          </a:solidFill>
          <a:ln w="19050">
            <a:solidFill>
              <a:srgbClr val="E887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0"/>
          <p:cNvSpPr/>
          <p:nvPr/>
        </p:nvSpPr>
        <p:spPr>
          <a:xfrm>
            <a:off x="685800" y="3813120"/>
            <a:ext cx="7772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onsolas"/>
                <a:ea typeface="Consolas"/>
              </a:rPr>
              <a:t>SELECT * FROM students WHERE roll_number = '</a:t>
            </a:r>
            <a:r>
              <a:rPr lang="en-US" sz="1000" b="1" u="none" strike="noStrike">
                <a:solidFill>
                  <a:srgbClr val="C62828"/>
                </a:solidFill>
                <a:effectLst/>
                <a:uFillTx/>
                <a:latin typeface="Consolas"/>
                <a:ea typeface="Consolas"/>
              </a:rPr>
              <a:t>' OR </a:t>
            </a:r>
            <a:r>
              <a:rPr lang="en-US" sz="1000" b="1" u="none" strike="noStrike">
                <a:solidFill>
                  <a:srgbClr val="1A9E5C"/>
                </a:solidFill>
                <a:effectLst/>
                <a:uFillTx/>
                <a:latin typeface="Consolas"/>
                <a:ea typeface="Consolas"/>
              </a:rPr>
              <a:t>1=1</a:t>
            </a:r>
            <a:r>
              <a:rPr lang="en-US" sz="1000" b="1" u="none" strike="noStrike">
                <a:solidFill>
                  <a:srgbClr val="6C5CE7"/>
                </a:solidFill>
                <a:effectLst/>
                <a:uFillTx/>
                <a:latin typeface="Consolas"/>
                <a:ea typeface="Consolas"/>
              </a:rPr>
              <a:t> --</a:t>
            </a:r>
            <a:r>
              <a:rPr lang="en-US" sz="1000" b="0" u="none" strike="noStrike">
                <a:solidFill>
                  <a:srgbClr val="999999"/>
                </a:solidFill>
                <a:effectLst/>
                <a:uFillTx/>
                <a:latin typeface="Consolas"/>
                <a:ea typeface="Consolas"/>
              </a:rPr>
              <a:t>' AND password = 'anything'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21"/>
          <p:cNvSpPr/>
          <p:nvPr/>
        </p:nvSpPr>
        <p:spPr>
          <a:xfrm>
            <a:off x="548640" y="4434840"/>
            <a:ext cx="8046360" cy="365400"/>
          </a:xfrm>
          <a:prstGeom prst="roundRect">
            <a:avLst>
              <a:gd name="adj" fmla="val 15000"/>
            </a:avLst>
          </a:prstGeom>
          <a:solidFill>
            <a:srgbClr val="FFEB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22"/>
          <p:cNvSpPr/>
          <p:nvPr/>
        </p:nvSpPr>
        <p:spPr>
          <a:xfrm>
            <a:off x="731520" y="443484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62828"/>
                </a:solidFill>
                <a:effectLst/>
                <a:uFillTx/>
                <a:latin typeface="Calibri"/>
                <a:ea typeface="Calibri"/>
              </a:rPr>
              <a:t>KEY   </a:t>
            </a:r>
            <a:r>
              <a:rPr lang="en-US" sz="12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Your input breaks out of the string literal and becomes executable SQL code.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"/>
          <p:cNvSpPr/>
          <p:nvPr/>
        </p:nvSpPr>
        <p:spPr>
          <a:xfrm>
            <a:off x="548640" y="182880"/>
            <a:ext cx="8046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Breaking Down Each Character's Role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2"/>
          <p:cNvSpPr/>
          <p:nvPr/>
        </p:nvSpPr>
        <p:spPr>
          <a:xfrm>
            <a:off x="548640" y="658080"/>
            <a:ext cx="2560320" cy="360"/>
          </a:xfrm>
          <a:prstGeom prst="line">
            <a:avLst/>
          </a:prstGeom>
          <a:ln w="38100">
            <a:solidFill>
              <a:srgbClr val="0E7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3"/>
          <p:cNvSpPr/>
          <p:nvPr/>
        </p:nvSpPr>
        <p:spPr>
          <a:xfrm>
            <a:off x="548640" y="8686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Each part of the payload  ' OR 1=1 --  serves a specific purpose in the attack: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4"/>
          <p:cNvSpPr/>
          <p:nvPr/>
        </p:nvSpPr>
        <p:spPr>
          <a:xfrm>
            <a:off x="548640" y="1234440"/>
            <a:ext cx="8046360" cy="31968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5"/>
          <p:cNvSpPr/>
          <p:nvPr/>
        </p:nvSpPr>
        <p:spPr>
          <a:xfrm>
            <a:off x="548640" y="123444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Character(s)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6"/>
          <p:cNvSpPr/>
          <p:nvPr/>
        </p:nvSpPr>
        <p:spPr>
          <a:xfrm>
            <a:off x="1920240" y="1234440"/>
            <a:ext cx="6674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9044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What It Does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7"/>
          <p:cNvSpPr/>
          <p:nvPr/>
        </p:nvSpPr>
        <p:spPr>
          <a:xfrm>
            <a:off x="548640" y="1554480"/>
            <a:ext cx="8046360" cy="685440"/>
          </a:xfrm>
          <a:prstGeom prst="rect">
            <a:avLst/>
          </a:prstGeom>
          <a:solidFill>
            <a:srgbClr val="F7F8FA"/>
          </a:solidFill>
          <a:ln w="635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8"/>
          <p:cNvSpPr/>
          <p:nvPr/>
        </p:nvSpPr>
        <p:spPr>
          <a:xfrm>
            <a:off x="548640" y="1554480"/>
            <a:ext cx="1371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C62828"/>
                </a:solidFill>
                <a:effectLst/>
                <a:uFillTx/>
                <a:latin typeface="Consolas"/>
                <a:ea typeface="Consolas"/>
              </a:rPr>
              <a:t>'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9"/>
          <p:cNvSpPr/>
          <p:nvPr/>
        </p:nvSpPr>
        <p:spPr>
          <a:xfrm>
            <a:off x="1920240" y="1554480"/>
            <a:ext cx="6491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9044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Closes 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the opening quote of  roll_number = '  — escapes from string context into SQL context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0"/>
          <p:cNvSpPr/>
          <p:nvPr/>
        </p:nvSpPr>
        <p:spPr>
          <a:xfrm>
            <a:off x="548640" y="2240280"/>
            <a:ext cx="8046360" cy="685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1"/>
          <p:cNvSpPr/>
          <p:nvPr/>
        </p:nvSpPr>
        <p:spPr>
          <a:xfrm>
            <a:off x="548640" y="2240280"/>
            <a:ext cx="1371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E8870E"/>
                </a:solidFill>
                <a:effectLst/>
                <a:uFillTx/>
                <a:latin typeface="Consolas"/>
                <a:ea typeface="Consolas"/>
              </a:rPr>
              <a:t>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2"/>
          <p:cNvSpPr/>
          <p:nvPr/>
        </p:nvSpPr>
        <p:spPr>
          <a:xfrm>
            <a:off x="1920240" y="2240280"/>
            <a:ext cx="6491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9044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Adds a new SQL condition 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— the database evaluates: (original condition) OR (your condition)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13"/>
          <p:cNvSpPr/>
          <p:nvPr/>
        </p:nvSpPr>
        <p:spPr>
          <a:xfrm>
            <a:off x="548640" y="2926080"/>
            <a:ext cx="8046360" cy="685440"/>
          </a:xfrm>
          <a:prstGeom prst="rect">
            <a:avLst/>
          </a:prstGeom>
          <a:solidFill>
            <a:srgbClr val="F7F8FA"/>
          </a:solidFill>
          <a:ln w="635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4"/>
          <p:cNvSpPr/>
          <p:nvPr/>
        </p:nvSpPr>
        <p:spPr>
          <a:xfrm>
            <a:off x="548640" y="2926080"/>
            <a:ext cx="1371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A9E5C"/>
                </a:solidFill>
                <a:effectLst/>
                <a:uFillTx/>
                <a:latin typeface="Consolas"/>
                <a:ea typeface="Consolas"/>
              </a:rPr>
              <a:t>1=1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5"/>
          <p:cNvSpPr/>
          <p:nvPr/>
        </p:nvSpPr>
        <p:spPr>
          <a:xfrm>
            <a:off x="1920240" y="2926080"/>
            <a:ext cx="6491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9044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 condition that is always TRUE 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— since 1 always equals 1, every row in the table matches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16"/>
          <p:cNvSpPr/>
          <p:nvPr/>
        </p:nvSpPr>
        <p:spPr>
          <a:xfrm>
            <a:off x="548640" y="3611880"/>
            <a:ext cx="8046360" cy="685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7"/>
          <p:cNvSpPr/>
          <p:nvPr/>
        </p:nvSpPr>
        <p:spPr>
          <a:xfrm>
            <a:off x="548640" y="3611880"/>
            <a:ext cx="1371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6C5CE7"/>
                </a:solidFill>
                <a:effectLst/>
                <a:uFillTx/>
                <a:latin typeface="Consolas"/>
                <a:ea typeface="Consolas"/>
              </a:rPr>
              <a:t>--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8"/>
          <p:cNvSpPr/>
          <p:nvPr/>
        </p:nvSpPr>
        <p:spPr>
          <a:xfrm>
            <a:off x="1920240" y="3611880"/>
            <a:ext cx="6491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9044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SQL comment 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— everything after this is ignored, killing the  AND password = '...'  check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19"/>
          <p:cNvSpPr/>
          <p:nvPr/>
        </p:nvSpPr>
        <p:spPr>
          <a:xfrm>
            <a:off x="548640" y="4480560"/>
            <a:ext cx="8046360" cy="365400"/>
          </a:xfrm>
          <a:prstGeom prst="roundRect">
            <a:avLst>
              <a:gd name="adj" fmla="val 15000"/>
            </a:avLst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20"/>
          <p:cNvSpPr/>
          <p:nvPr/>
        </p:nvSpPr>
        <p:spPr>
          <a:xfrm>
            <a:off x="731520" y="448056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Payload breakdown:   </a:t>
            </a:r>
            <a:r>
              <a:rPr lang="en-US" sz="1300" b="1" u="none" strike="noStrike">
                <a:solidFill>
                  <a:srgbClr val="C62828"/>
                </a:solidFill>
                <a:effectLst/>
                <a:uFillTx/>
                <a:latin typeface="Consolas"/>
                <a:ea typeface="Consolas"/>
              </a:rPr>
              <a:t>'</a:t>
            </a: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  close quote   </a:t>
            </a:r>
            <a:r>
              <a:rPr lang="en-US" sz="1300" b="1" u="none" strike="noStrike">
                <a:solidFill>
                  <a:srgbClr val="E8870E"/>
                </a:solidFill>
                <a:effectLst/>
                <a:uFillTx/>
                <a:latin typeface="Consolas"/>
                <a:ea typeface="Consolas"/>
              </a:rPr>
              <a:t>OR</a:t>
            </a: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  add condition   </a:t>
            </a:r>
            <a:r>
              <a:rPr lang="en-US" sz="1300" b="1" u="none" strike="noStrike">
                <a:solidFill>
                  <a:srgbClr val="1A9E5C"/>
                </a:solidFill>
                <a:effectLst/>
                <a:uFillTx/>
                <a:latin typeface="Consolas"/>
                <a:ea typeface="Consolas"/>
              </a:rPr>
              <a:t>1=1</a:t>
            </a: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  always true   </a:t>
            </a:r>
            <a:r>
              <a:rPr lang="en-US" sz="1300" b="1" u="none" strike="noStrike">
                <a:solidFill>
                  <a:srgbClr val="6C5CE7"/>
                </a:solidFill>
                <a:effectLst/>
                <a:uFillTx/>
                <a:latin typeface="Consolas"/>
                <a:ea typeface="Consolas"/>
              </a:rPr>
              <a:t>--</a:t>
            </a: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  comment out rest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"/>
          <p:cNvSpPr/>
          <p:nvPr/>
        </p:nvSpPr>
        <p:spPr>
          <a:xfrm>
            <a:off x="548640" y="182880"/>
            <a:ext cx="8046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How the Database Evaluates the Query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2"/>
          <p:cNvSpPr/>
          <p:nvPr/>
        </p:nvSpPr>
        <p:spPr>
          <a:xfrm>
            <a:off x="548640" y="658080"/>
            <a:ext cx="2560320" cy="360"/>
          </a:xfrm>
          <a:prstGeom prst="line">
            <a:avLst/>
          </a:prstGeom>
          <a:ln w="38100">
            <a:solidFill>
              <a:srgbClr val="0E7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3"/>
          <p:cNvSpPr/>
          <p:nvPr/>
        </p:nvSpPr>
        <p:spPr>
          <a:xfrm>
            <a:off x="548640" y="914400"/>
            <a:ext cx="8046360" cy="41112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4"/>
          <p:cNvSpPr/>
          <p:nvPr/>
        </p:nvSpPr>
        <p:spPr>
          <a:xfrm>
            <a:off x="731520" y="914400"/>
            <a:ext cx="7680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WHERE roll_number = ''     </a:t>
            </a:r>
            <a:r>
              <a:rPr lang="en-US" sz="1200" b="1" u="none" strike="noStrike">
                <a:solidFill>
                  <a:srgbClr val="E8870E"/>
                </a:solidFill>
                <a:effectLst/>
                <a:uFillTx/>
                <a:latin typeface="Consolas"/>
                <a:ea typeface="Consolas"/>
              </a:rPr>
              <a:t>OR</a:t>
            </a: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     </a:t>
            </a:r>
            <a:r>
              <a:rPr lang="en-US" sz="1200" b="1" u="none" strike="noStrike">
                <a:solidFill>
                  <a:srgbClr val="1A9E5C"/>
                </a:solidFill>
                <a:effectLst/>
                <a:uFillTx/>
                <a:latin typeface="Consolas"/>
                <a:ea typeface="Consolas"/>
              </a:rPr>
              <a:t>1=1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5"/>
          <p:cNvSpPr/>
          <p:nvPr/>
        </p:nvSpPr>
        <p:spPr>
          <a:xfrm>
            <a:off x="548640" y="141732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The database checks each row against this logic. For every single row: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6"/>
          <p:cNvSpPr/>
          <p:nvPr/>
        </p:nvSpPr>
        <p:spPr>
          <a:xfrm>
            <a:off x="548640" y="1737360"/>
            <a:ext cx="8046360" cy="31968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7"/>
          <p:cNvSpPr/>
          <p:nvPr/>
        </p:nvSpPr>
        <p:spPr>
          <a:xfrm>
            <a:off x="548640" y="173736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9044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Condition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8"/>
          <p:cNvSpPr/>
          <p:nvPr/>
        </p:nvSpPr>
        <p:spPr>
          <a:xfrm>
            <a:off x="3108960" y="1737360"/>
            <a:ext cx="127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Result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9"/>
          <p:cNvSpPr/>
          <p:nvPr/>
        </p:nvSpPr>
        <p:spPr>
          <a:xfrm>
            <a:off x="4389120" y="1737360"/>
            <a:ext cx="4205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9044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10"/>
          <p:cNvSpPr/>
          <p:nvPr/>
        </p:nvSpPr>
        <p:spPr>
          <a:xfrm>
            <a:off x="548640" y="2057400"/>
            <a:ext cx="8046360" cy="438480"/>
          </a:xfrm>
          <a:prstGeom prst="rect">
            <a:avLst/>
          </a:prstGeom>
          <a:solidFill>
            <a:srgbClr val="F7F8FA"/>
          </a:solidFill>
          <a:ln w="635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1"/>
          <p:cNvSpPr/>
          <p:nvPr/>
        </p:nvSpPr>
        <p:spPr>
          <a:xfrm>
            <a:off x="548640" y="2057400"/>
            <a:ext cx="2559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9044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onsolas"/>
                <a:ea typeface="Consolas"/>
              </a:rPr>
              <a:t>roll_number = ''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12"/>
          <p:cNvSpPr/>
          <p:nvPr/>
        </p:nvSpPr>
        <p:spPr>
          <a:xfrm>
            <a:off x="3337560" y="2148840"/>
            <a:ext cx="822600" cy="255600"/>
          </a:xfrm>
          <a:prstGeom prst="roundRect">
            <a:avLst>
              <a:gd name="adj" fmla="val 14286"/>
            </a:avLst>
          </a:prstGeom>
          <a:solidFill>
            <a:srgbClr val="FFEB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3"/>
          <p:cNvSpPr/>
          <p:nvPr/>
        </p:nvSpPr>
        <p:spPr>
          <a:xfrm>
            <a:off x="3108960" y="2057400"/>
            <a:ext cx="1279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62828"/>
                </a:solidFill>
                <a:effectLst/>
                <a:uFillTx/>
                <a:latin typeface="Calibri"/>
                <a:ea typeface="Calibri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14"/>
          <p:cNvSpPr/>
          <p:nvPr/>
        </p:nvSpPr>
        <p:spPr>
          <a:xfrm>
            <a:off x="4389120" y="2057400"/>
            <a:ext cx="4205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9044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No student has an empty roll number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15"/>
          <p:cNvSpPr/>
          <p:nvPr/>
        </p:nvSpPr>
        <p:spPr>
          <a:xfrm>
            <a:off x="548640" y="2496240"/>
            <a:ext cx="8046360" cy="438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16"/>
          <p:cNvSpPr/>
          <p:nvPr/>
        </p:nvSpPr>
        <p:spPr>
          <a:xfrm>
            <a:off x="548640" y="2496240"/>
            <a:ext cx="2559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9044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9E5C"/>
                </a:solidFill>
                <a:effectLst/>
                <a:uFillTx/>
                <a:latin typeface="Consolas"/>
                <a:ea typeface="Consolas"/>
              </a:rPr>
              <a:t>1 = 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17"/>
          <p:cNvSpPr/>
          <p:nvPr/>
        </p:nvSpPr>
        <p:spPr>
          <a:xfrm>
            <a:off x="3337560" y="2587680"/>
            <a:ext cx="822600" cy="255600"/>
          </a:xfrm>
          <a:prstGeom prst="roundRect">
            <a:avLst>
              <a:gd name="adj" fmla="val 14286"/>
            </a:avLst>
          </a:prstGeom>
          <a:solidFill>
            <a:srgbClr val="E8F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18"/>
          <p:cNvSpPr/>
          <p:nvPr/>
        </p:nvSpPr>
        <p:spPr>
          <a:xfrm>
            <a:off x="3108960" y="2496240"/>
            <a:ext cx="1279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9E5C"/>
                </a:solidFill>
                <a:effectLst/>
                <a:uFillTx/>
                <a:latin typeface="Calibri"/>
                <a:ea typeface="Calibri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19"/>
          <p:cNvSpPr/>
          <p:nvPr/>
        </p:nvSpPr>
        <p:spPr>
          <a:xfrm>
            <a:off x="4389120" y="2496240"/>
            <a:ext cx="4205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9044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1 always equals 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20"/>
          <p:cNvSpPr/>
          <p:nvPr/>
        </p:nvSpPr>
        <p:spPr>
          <a:xfrm>
            <a:off x="548640" y="2935080"/>
            <a:ext cx="8046360" cy="438480"/>
          </a:xfrm>
          <a:prstGeom prst="rect">
            <a:avLst/>
          </a:prstGeom>
          <a:solidFill>
            <a:srgbClr val="E8F5E9"/>
          </a:solidFill>
          <a:ln w="19050">
            <a:solidFill>
              <a:srgbClr val="1A9E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21"/>
          <p:cNvSpPr/>
          <p:nvPr/>
        </p:nvSpPr>
        <p:spPr>
          <a:xfrm>
            <a:off x="548640" y="2935080"/>
            <a:ext cx="2559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9044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33333"/>
                </a:solidFill>
                <a:effectLst/>
                <a:uFillTx/>
                <a:latin typeface="Consolas"/>
                <a:ea typeface="Consolas"/>
              </a:rPr>
              <a:t>FALSE  OR  TRUE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22"/>
          <p:cNvSpPr/>
          <p:nvPr/>
        </p:nvSpPr>
        <p:spPr>
          <a:xfrm>
            <a:off x="3246120" y="3026520"/>
            <a:ext cx="1005480" cy="255600"/>
          </a:xfrm>
          <a:prstGeom prst="roundRect">
            <a:avLst>
              <a:gd name="adj" fmla="val 14286"/>
            </a:avLst>
          </a:prstGeom>
          <a:solidFill>
            <a:srgbClr val="1A9E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23"/>
          <p:cNvSpPr/>
          <p:nvPr/>
        </p:nvSpPr>
        <p:spPr>
          <a:xfrm>
            <a:off x="3108960" y="2935080"/>
            <a:ext cx="1279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24"/>
          <p:cNvSpPr/>
          <p:nvPr/>
        </p:nvSpPr>
        <p:spPr>
          <a:xfrm>
            <a:off x="4389120" y="2935080"/>
            <a:ext cx="4205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9044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OR only needs one side to be true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25"/>
          <p:cNvSpPr/>
          <p:nvPr/>
        </p:nvSpPr>
        <p:spPr>
          <a:xfrm>
            <a:off x="548640" y="3511440"/>
            <a:ext cx="8046360" cy="365400"/>
          </a:xfrm>
          <a:prstGeom prst="roundRect">
            <a:avLst>
              <a:gd name="adj" fmla="val 15000"/>
            </a:avLst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26"/>
          <p:cNvSpPr/>
          <p:nvPr/>
        </p:nvSpPr>
        <p:spPr>
          <a:xfrm>
            <a:off x="731520" y="351144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RESULT   Since 1=1 is TRUE for every row, the WHERE clause matches all 10 students in the table.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27"/>
          <p:cNvSpPr/>
          <p:nvPr/>
        </p:nvSpPr>
        <p:spPr>
          <a:xfrm>
            <a:off x="548640" y="4060080"/>
            <a:ext cx="273960" cy="273960"/>
          </a:xfrm>
          <a:prstGeom prst="ellipse">
            <a:avLst/>
          </a:prstGeom>
          <a:solidFill>
            <a:srgbClr val="C6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28"/>
          <p:cNvSpPr/>
          <p:nvPr/>
        </p:nvSpPr>
        <p:spPr>
          <a:xfrm>
            <a:off x="548640" y="4060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!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29"/>
          <p:cNvSpPr/>
          <p:nvPr/>
        </p:nvSpPr>
        <p:spPr>
          <a:xfrm>
            <a:off x="960120" y="404172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The app treats the first row as a successful login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30"/>
          <p:cNvSpPr/>
          <p:nvPr/>
        </p:nvSpPr>
        <p:spPr>
          <a:xfrm>
            <a:off x="548640" y="4425840"/>
            <a:ext cx="8046360" cy="45684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9050">
            <a:solidFill>
              <a:srgbClr val="E887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31"/>
          <p:cNvSpPr/>
          <p:nvPr/>
        </p:nvSpPr>
        <p:spPr>
          <a:xfrm>
            <a:off x="731520" y="4425840"/>
            <a:ext cx="7680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C62828"/>
                </a:solidFill>
                <a:effectLst/>
                <a:uFillTx/>
                <a:latin typeface="Calibri"/>
                <a:ea typeface="Calibri"/>
              </a:rPr>
              <a:t>Attack successful: </a:t>
            </a:r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You are logged in as the first student without knowing any password. The dashboard also displays all 10 students' data including their passwords.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428;p26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360" bIns="36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2" name="Google Shape;429;p26"/>
          <p:cNvSpPr/>
          <p:nvPr/>
        </p:nvSpPr>
        <p:spPr>
          <a:xfrm>
            <a:off x="548640" y="3200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0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Countermeasures: Primary Defenses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Google Shape;430;p26"/>
          <p:cNvSpPr/>
          <p:nvPr/>
        </p:nvSpPr>
        <p:spPr>
          <a:xfrm>
            <a:off x="548640" y="841320"/>
            <a:ext cx="2285640" cy="2700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3680" bIns="136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4" name="Google Shape;431;p26"/>
          <p:cNvSpPr/>
          <p:nvPr/>
        </p:nvSpPr>
        <p:spPr>
          <a:xfrm>
            <a:off x="548640" y="1097280"/>
            <a:ext cx="8046360" cy="109692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5" name="Google Shape;432;p26"/>
          <p:cNvSpPr/>
          <p:nvPr/>
        </p:nvSpPr>
        <p:spPr>
          <a:xfrm>
            <a:off x="548640" y="1097280"/>
            <a:ext cx="54360" cy="10969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66" name="Google Shape;433;p26" descr="preencoded.png"/>
          <p:cNvPicPr/>
          <p:nvPr/>
        </p:nvPicPr>
        <p:blipFill>
          <a:blip r:embed="rId1"/>
          <a:stretch/>
        </p:blipFill>
        <p:spPr>
          <a:xfrm>
            <a:off x="777240" y="123444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7" name="Google Shape;434;p26"/>
          <p:cNvSpPr/>
          <p:nvPr/>
        </p:nvSpPr>
        <p:spPr>
          <a:xfrm>
            <a:off x="7635240" y="1234440"/>
            <a:ext cx="776880" cy="228240"/>
          </a:xfrm>
          <a:prstGeom prst="rect">
            <a:avLst/>
          </a:prstGeom>
          <a:solidFill>
            <a:srgbClr val="E6F5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8" name="Google Shape;435;p26"/>
          <p:cNvSpPr/>
          <p:nvPr/>
        </p:nvSpPr>
        <p:spPr>
          <a:xfrm>
            <a:off x="7635240" y="1234440"/>
            <a:ext cx="776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700" b="1" u="none" strike="noStrike">
                <a:solidFill>
                  <a:srgbClr val="0E7C86"/>
                </a:solidFill>
                <a:effectLst/>
                <a:uFillTx/>
                <a:latin typeface="Georgia"/>
                <a:ea typeface="Georgia"/>
              </a:rPr>
              <a:t>PRIMARY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Google Shape;436;p26"/>
          <p:cNvSpPr/>
          <p:nvPr/>
        </p:nvSpPr>
        <p:spPr>
          <a:xfrm>
            <a:off x="1371600" y="1207080"/>
            <a:ext cx="6034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6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Parameterized Queries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Google Shape;437;p26"/>
          <p:cNvSpPr/>
          <p:nvPr/>
        </p:nvSpPr>
        <p:spPr>
          <a:xfrm>
            <a:off x="777240" y="1645920"/>
            <a:ext cx="7589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Use prepared statements that separate SQL logic from user-supplied data. This is the #1 defense recommended by OWASP. User input is always treated as data, never as executable code.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Google Shape;438;p26"/>
          <p:cNvSpPr/>
          <p:nvPr/>
        </p:nvSpPr>
        <p:spPr>
          <a:xfrm>
            <a:off x="548640" y="2331720"/>
            <a:ext cx="8046360" cy="109692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2" name="Google Shape;439;p26"/>
          <p:cNvSpPr/>
          <p:nvPr/>
        </p:nvSpPr>
        <p:spPr>
          <a:xfrm>
            <a:off x="548640" y="2331720"/>
            <a:ext cx="54360" cy="10969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73" name="Google Shape;440;p26" descr="preencoded.png"/>
          <p:cNvPicPr/>
          <p:nvPr/>
        </p:nvPicPr>
        <p:blipFill>
          <a:blip r:embed="rId2"/>
          <a:stretch/>
        </p:blipFill>
        <p:spPr>
          <a:xfrm>
            <a:off x="777240" y="246888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4" name="Google Shape;441;p26"/>
          <p:cNvSpPr/>
          <p:nvPr/>
        </p:nvSpPr>
        <p:spPr>
          <a:xfrm>
            <a:off x="7635240" y="2468880"/>
            <a:ext cx="776880" cy="228240"/>
          </a:xfrm>
          <a:prstGeom prst="rect">
            <a:avLst/>
          </a:prstGeom>
          <a:solidFill>
            <a:srgbClr val="E6F5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5" name="Google Shape;442;p26"/>
          <p:cNvSpPr/>
          <p:nvPr/>
        </p:nvSpPr>
        <p:spPr>
          <a:xfrm>
            <a:off x="7635240" y="2468880"/>
            <a:ext cx="776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700" b="1" u="none" strike="noStrike">
                <a:solidFill>
                  <a:srgbClr val="0E7C86"/>
                </a:solidFill>
                <a:effectLst/>
                <a:uFillTx/>
                <a:latin typeface="Georgia"/>
                <a:ea typeface="Georgia"/>
              </a:rPr>
              <a:t>PRIMARY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Google Shape;443;p26"/>
          <p:cNvSpPr/>
          <p:nvPr/>
        </p:nvSpPr>
        <p:spPr>
          <a:xfrm>
            <a:off x="1371600" y="2441520"/>
            <a:ext cx="6034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6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Input Validation &amp; Whitelisting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Google Shape;444;p26"/>
          <p:cNvSpPr/>
          <p:nvPr/>
        </p:nvSpPr>
        <p:spPr>
          <a:xfrm>
            <a:off x="777240" y="2880360"/>
            <a:ext cx="7589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Validate all user inputs against expected patterns. Use whitelists for acceptable characters and formats. Enforce strict type checks and length limits on every input field.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Google Shape;445;p26"/>
          <p:cNvSpPr/>
          <p:nvPr/>
        </p:nvSpPr>
        <p:spPr>
          <a:xfrm>
            <a:off x="548640" y="3566160"/>
            <a:ext cx="8046360" cy="109692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9" name="Google Shape;446;p26"/>
          <p:cNvSpPr/>
          <p:nvPr/>
        </p:nvSpPr>
        <p:spPr>
          <a:xfrm>
            <a:off x="548640" y="3566160"/>
            <a:ext cx="54360" cy="10969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80" name="Google Shape;447;p26" descr="preencoded.png"/>
          <p:cNvPicPr/>
          <p:nvPr/>
        </p:nvPicPr>
        <p:blipFill>
          <a:blip r:embed="rId3"/>
          <a:stretch/>
        </p:blipFill>
        <p:spPr>
          <a:xfrm>
            <a:off x="777240" y="370332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1" name="Google Shape;448;p26"/>
          <p:cNvSpPr/>
          <p:nvPr/>
        </p:nvSpPr>
        <p:spPr>
          <a:xfrm>
            <a:off x="7635240" y="3703320"/>
            <a:ext cx="776880" cy="228240"/>
          </a:xfrm>
          <a:prstGeom prst="rect">
            <a:avLst/>
          </a:prstGeom>
          <a:solidFill>
            <a:srgbClr val="E6F5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2" name="Google Shape;449;p26"/>
          <p:cNvSpPr/>
          <p:nvPr/>
        </p:nvSpPr>
        <p:spPr>
          <a:xfrm>
            <a:off x="7635240" y="3703320"/>
            <a:ext cx="776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700" b="1" u="none" strike="noStrike">
                <a:solidFill>
                  <a:srgbClr val="0E7C86"/>
                </a:solidFill>
                <a:effectLst/>
                <a:uFillTx/>
                <a:latin typeface="Georgia"/>
                <a:ea typeface="Georgia"/>
              </a:rPr>
              <a:t>PRIMARY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Google Shape;450;p26"/>
          <p:cNvSpPr/>
          <p:nvPr/>
        </p:nvSpPr>
        <p:spPr>
          <a:xfrm>
            <a:off x="1371600" y="3675960"/>
            <a:ext cx="6034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6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ORM Frameworks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Google Shape;451;p26"/>
          <p:cNvSpPr/>
          <p:nvPr/>
        </p:nvSpPr>
        <p:spPr>
          <a:xfrm>
            <a:off x="777240" y="4114800"/>
            <a:ext cx="7589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Use Object-Relational Mappers such as SQLAlchemy, Hibernate, or Django ORM. These enforce parameterized queries by default, significantly reducing the attack surface.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457;p27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360" bIns="36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6" name="Google Shape;458;p27"/>
          <p:cNvSpPr/>
          <p:nvPr/>
        </p:nvSpPr>
        <p:spPr>
          <a:xfrm>
            <a:off x="548640" y="3200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0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Countermeasures: Secondary Defenses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Google Shape;459;p27"/>
          <p:cNvSpPr/>
          <p:nvPr/>
        </p:nvSpPr>
        <p:spPr>
          <a:xfrm>
            <a:off x="548640" y="841320"/>
            <a:ext cx="2285640" cy="2700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3680" bIns="136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8" name="Google Shape;460;p27"/>
          <p:cNvSpPr/>
          <p:nvPr/>
        </p:nvSpPr>
        <p:spPr>
          <a:xfrm>
            <a:off x="548640" y="1097280"/>
            <a:ext cx="8046360" cy="109692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9" name="Google Shape;461;p27"/>
          <p:cNvSpPr/>
          <p:nvPr/>
        </p:nvSpPr>
        <p:spPr>
          <a:xfrm>
            <a:off x="548640" y="1097280"/>
            <a:ext cx="54360" cy="1096920"/>
          </a:xfrm>
          <a:prstGeom prst="rect">
            <a:avLst/>
          </a:prstGeom>
          <a:solidFill>
            <a:srgbClr val="6C5CE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90" name="Google Shape;462;p27" descr="preencoded.png"/>
          <p:cNvPicPr/>
          <p:nvPr/>
        </p:nvPicPr>
        <p:blipFill>
          <a:blip r:embed="rId1"/>
          <a:stretch/>
        </p:blipFill>
        <p:spPr>
          <a:xfrm>
            <a:off x="777240" y="123444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1" name="Google Shape;463;p27"/>
          <p:cNvSpPr/>
          <p:nvPr/>
        </p:nvSpPr>
        <p:spPr>
          <a:xfrm>
            <a:off x="7360920" y="1234440"/>
            <a:ext cx="1051200" cy="228240"/>
          </a:xfrm>
          <a:prstGeom prst="rect">
            <a:avLst/>
          </a:prstGeom>
          <a:solidFill>
            <a:srgbClr val="F0ED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2" name="Google Shape;464;p27"/>
          <p:cNvSpPr/>
          <p:nvPr/>
        </p:nvSpPr>
        <p:spPr>
          <a:xfrm>
            <a:off x="7360920" y="1234440"/>
            <a:ext cx="1051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700" b="1" u="none" strike="noStrike">
                <a:solidFill>
                  <a:srgbClr val="6C5CE7"/>
                </a:solidFill>
                <a:effectLst/>
                <a:uFillTx/>
                <a:latin typeface="Georgia"/>
                <a:ea typeface="Georgia"/>
              </a:rPr>
              <a:t>SECONDARY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Google Shape;465;p27"/>
          <p:cNvSpPr/>
          <p:nvPr/>
        </p:nvSpPr>
        <p:spPr>
          <a:xfrm>
            <a:off x="1371600" y="1207080"/>
            <a:ext cx="5760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6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Least Privilege Principle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Google Shape;466;p27"/>
          <p:cNvSpPr/>
          <p:nvPr/>
        </p:nvSpPr>
        <p:spPr>
          <a:xfrm>
            <a:off x="777240" y="1645920"/>
            <a:ext cx="7589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Database accounts used by applications should have minimal permissions. Avoid granting DROP, ALTER, or administrative access to application-level accounts.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Google Shape;467;p27"/>
          <p:cNvSpPr/>
          <p:nvPr/>
        </p:nvSpPr>
        <p:spPr>
          <a:xfrm>
            <a:off x="548640" y="2331720"/>
            <a:ext cx="8046360" cy="109692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6" name="Google Shape;468;p27"/>
          <p:cNvSpPr/>
          <p:nvPr/>
        </p:nvSpPr>
        <p:spPr>
          <a:xfrm>
            <a:off x="548640" y="2331720"/>
            <a:ext cx="54360" cy="1096920"/>
          </a:xfrm>
          <a:prstGeom prst="rect">
            <a:avLst/>
          </a:prstGeom>
          <a:solidFill>
            <a:srgbClr val="6C5CE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97" name="Google Shape;469;p27" descr="preencoded.png"/>
          <p:cNvPicPr/>
          <p:nvPr/>
        </p:nvPicPr>
        <p:blipFill>
          <a:blip r:embed="rId2"/>
          <a:stretch/>
        </p:blipFill>
        <p:spPr>
          <a:xfrm>
            <a:off x="777240" y="246888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8" name="Google Shape;470;p27"/>
          <p:cNvSpPr/>
          <p:nvPr/>
        </p:nvSpPr>
        <p:spPr>
          <a:xfrm>
            <a:off x="7360920" y="2468880"/>
            <a:ext cx="1051200" cy="228240"/>
          </a:xfrm>
          <a:prstGeom prst="rect">
            <a:avLst/>
          </a:prstGeom>
          <a:solidFill>
            <a:srgbClr val="F0ED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9" name="Google Shape;471;p27"/>
          <p:cNvSpPr/>
          <p:nvPr/>
        </p:nvSpPr>
        <p:spPr>
          <a:xfrm>
            <a:off x="7360920" y="2468880"/>
            <a:ext cx="1051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700" b="1" u="none" strike="noStrike">
                <a:solidFill>
                  <a:srgbClr val="6C5CE7"/>
                </a:solidFill>
                <a:effectLst/>
                <a:uFillTx/>
                <a:latin typeface="Georgia"/>
                <a:ea typeface="Georgia"/>
              </a:rPr>
              <a:t>SECONDARY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Google Shape;472;p27"/>
          <p:cNvSpPr/>
          <p:nvPr/>
        </p:nvSpPr>
        <p:spPr>
          <a:xfrm>
            <a:off x="1371600" y="2441520"/>
            <a:ext cx="5760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6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Web Application Firewall (WAF)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Google Shape;473;p27"/>
          <p:cNvSpPr/>
          <p:nvPr/>
        </p:nvSpPr>
        <p:spPr>
          <a:xfrm>
            <a:off x="777240" y="2880360"/>
            <a:ext cx="7589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WAFs inspect HTTP traffic and block requests containing SQLi attack patterns. Useful as an additional layer for legacy applications, but not a standalone solution.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Google Shape;474;p27"/>
          <p:cNvSpPr/>
          <p:nvPr/>
        </p:nvSpPr>
        <p:spPr>
          <a:xfrm>
            <a:off x="548640" y="3566160"/>
            <a:ext cx="8046360" cy="109692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3" name="Google Shape;475;p27"/>
          <p:cNvSpPr/>
          <p:nvPr/>
        </p:nvSpPr>
        <p:spPr>
          <a:xfrm>
            <a:off x="548640" y="3566160"/>
            <a:ext cx="54360" cy="1096920"/>
          </a:xfrm>
          <a:prstGeom prst="rect">
            <a:avLst/>
          </a:prstGeom>
          <a:solidFill>
            <a:srgbClr val="6C5CE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04" name="Google Shape;476;p27" descr="preencoded.png"/>
          <p:cNvPicPr/>
          <p:nvPr/>
        </p:nvPicPr>
        <p:blipFill>
          <a:blip r:embed="rId3"/>
          <a:stretch/>
        </p:blipFill>
        <p:spPr>
          <a:xfrm>
            <a:off x="777240" y="370332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5" name="Google Shape;477;p27"/>
          <p:cNvSpPr/>
          <p:nvPr/>
        </p:nvSpPr>
        <p:spPr>
          <a:xfrm>
            <a:off x="7360920" y="3703320"/>
            <a:ext cx="1051200" cy="228240"/>
          </a:xfrm>
          <a:prstGeom prst="rect">
            <a:avLst/>
          </a:prstGeom>
          <a:solidFill>
            <a:srgbClr val="F0ED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6" name="Google Shape;478;p27"/>
          <p:cNvSpPr/>
          <p:nvPr/>
        </p:nvSpPr>
        <p:spPr>
          <a:xfrm>
            <a:off x="7360920" y="3703320"/>
            <a:ext cx="1051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700" b="1" u="none" strike="noStrike">
                <a:solidFill>
                  <a:srgbClr val="6C5CE7"/>
                </a:solidFill>
                <a:effectLst/>
                <a:uFillTx/>
                <a:latin typeface="Georgia"/>
                <a:ea typeface="Georgia"/>
              </a:rPr>
              <a:t>SECONDARY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Google Shape;479;p27"/>
          <p:cNvSpPr/>
          <p:nvPr/>
        </p:nvSpPr>
        <p:spPr>
          <a:xfrm>
            <a:off x="1371600" y="3675960"/>
            <a:ext cx="5760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6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Regular Security Testing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Google Shape;480;p27"/>
          <p:cNvSpPr/>
          <p:nvPr/>
        </p:nvSpPr>
        <p:spPr>
          <a:xfrm>
            <a:off x="777240" y="4114800"/>
            <a:ext cx="7589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Conduct SAST/DAST scans, penetration testing, and code reviews regularly. Use tools like SQLMap, Burp Suite, and OWASP ZAP to identify vulnerabilities before attackers do.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86;p28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360" bIns="36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0" name="Google Shape;487;p28"/>
          <p:cNvSpPr/>
          <p:nvPr/>
        </p:nvSpPr>
        <p:spPr>
          <a:xfrm>
            <a:off x="548640" y="3200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0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Secure Coding Best Practices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Google Shape;488;p28"/>
          <p:cNvSpPr/>
          <p:nvPr/>
        </p:nvSpPr>
        <p:spPr>
          <a:xfrm>
            <a:off x="548640" y="841320"/>
            <a:ext cx="2285640" cy="2700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3680" bIns="136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2" name="Google Shape;489;p28"/>
          <p:cNvSpPr/>
          <p:nvPr/>
        </p:nvSpPr>
        <p:spPr>
          <a:xfrm>
            <a:off x="548640" y="1051560"/>
            <a:ext cx="4023000" cy="114264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3" name="Google Shape;490;p28"/>
          <p:cNvSpPr/>
          <p:nvPr/>
        </p:nvSpPr>
        <p:spPr>
          <a:xfrm>
            <a:off x="548640" y="1051560"/>
            <a:ext cx="54360" cy="114264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4" name="Google Shape;491;p28"/>
          <p:cNvSpPr/>
          <p:nvPr/>
        </p:nvSpPr>
        <p:spPr>
          <a:xfrm>
            <a:off x="731520" y="11430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Never trust user input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Google Shape;492;p28"/>
          <p:cNvSpPr/>
          <p:nvPr/>
        </p:nvSpPr>
        <p:spPr>
          <a:xfrm>
            <a:off x="731520" y="1490400"/>
            <a:ext cx="3657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Treat all input (form fields, URL parameters, cookies, HTTP headers) as potentially malicious. Validate and sanitize everything.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Google Shape;493;p28"/>
          <p:cNvSpPr/>
          <p:nvPr/>
        </p:nvSpPr>
        <p:spPr>
          <a:xfrm>
            <a:off x="548640" y="2331720"/>
            <a:ext cx="4023000" cy="114264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7" name="Google Shape;494;p28"/>
          <p:cNvSpPr/>
          <p:nvPr/>
        </p:nvSpPr>
        <p:spPr>
          <a:xfrm>
            <a:off x="548640" y="2331720"/>
            <a:ext cx="54360" cy="114264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8" name="Google Shape;495;p28"/>
          <p:cNvSpPr/>
          <p:nvPr/>
        </p:nvSpPr>
        <p:spPr>
          <a:xfrm>
            <a:off x="731520" y="24231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Use parameterized queries everywhere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Google Shape;496;p28"/>
          <p:cNvSpPr/>
          <p:nvPr/>
        </p:nvSpPr>
        <p:spPr>
          <a:xfrm>
            <a:off x="731520" y="2770560"/>
            <a:ext cx="3657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Every database interaction must use prepared statements or parameterized queries, with no exceptions for "simple" queries.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Google Shape;497;p28"/>
          <p:cNvSpPr/>
          <p:nvPr/>
        </p:nvSpPr>
        <p:spPr>
          <a:xfrm>
            <a:off x="548640" y="3611880"/>
            <a:ext cx="4023000" cy="114264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1" name="Google Shape;498;p28"/>
          <p:cNvSpPr/>
          <p:nvPr/>
        </p:nvSpPr>
        <p:spPr>
          <a:xfrm>
            <a:off x="548640" y="3611880"/>
            <a:ext cx="54360" cy="114264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2" name="Google Shape;499;p28"/>
          <p:cNvSpPr/>
          <p:nvPr/>
        </p:nvSpPr>
        <p:spPr>
          <a:xfrm>
            <a:off x="731520" y="370332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Apply the principle of least privilege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Google Shape;500;p28"/>
          <p:cNvSpPr/>
          <p:nvPr/>
        </p:nvSpPr>
        <p:spPr>
          <a:xfrm>
            <a:off x="731520" y="4050720"/>
            <a:ext cx="3657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Each application should connect to the database with the minimum permissions required for its functionality.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Google Shape;501;p28"/>
          <p:cNvSpPr/>
          <p:nvPr/>
        </p:nvSpPr>
        <p:spPr>
          <a:xfrm>
            <a:off x="4800600" y="1051560"/>
            <a:ext cx="4023000" cy="114264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5" name="Google Shape;502;p28"/>
          <p:cNvSpPr/>
          <p:nvPr/>
        </p:nvSpPr>
        <p:spPr>
          <a:xfrm>
            <a:off x="4800600" y="1051560"/>
            <a:ext cx="54360" cy="114264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6" name="Google Shape;503;p28"/>
          <p:cNvSpPr/>
          <p:nvPr/>
        </p:nvSpPr>
        <p:spPr>
          <a:xfrm>
            <a:off x="4983480" y="11430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Implement proper error handling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Google Shape;504;p28"/>
          <p:cNvSpPr/>
          <p:nvPr/>
        </p:nvSpPr>
        <p:spPr>
          <a:xfrm>
            <a:off x="4983480" y="1490400"/>
            <a:ext cx="3657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Never expose database error messages to end users. Use generic error pages and log detailed errors server-side only.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Google Shape;505;p28"/>
          <p:cNvSpPr/>
          <p:nvPr/>
        </p:nvSpPr>
        <p:spPr>
          <a:xfrm>
            <a:off x="4800600" y="2331720"/>
            <a:ext cx="4023000" cy="114264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9" name="Google Shape;506;p28"/>
          <p:cNvSpPr/>
          <p:nvPr/>
        </p:nvSpPr>
        <p:spPr>
          <a:xfrm>
            <a:off x="4800600" y="2331720"/>
            <a:ext cx="54360" cy="114264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0" name="Google Shape;507;p28"/>
          <p:cNvSpPr/>
          <p:nvPr/>
        </p:nvSpPr>
        <p:spPr>
          <a:xfrm>
            <a:off x="4983480" y="24231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Keep frameworks and libraries updated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Google Shape;508;p28"/>
          <p:cNvSpPr/>
          <p:nvPr/>
        </p:nvSpPr>
        <p:spPr>
          <a:xfrm>
            <a:off x="4983480" y="2770560"/>
            <a:ext cx="3657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Regularly update your tech stack. Many SQLi vulnerabilities exist in outdated framework versions and third-party libraries.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Google Shape;509;p28"/>
          <p:cNvSpPr/>
          <p:nvPr/>
        </p:nvSpPr>
        <p:spPr>
          <a:xfrm>
            <a:off x="4800600" y="3611880"/>
            <a:ext cx="4023000" cy="114264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6320" dir="8100000" dist="25455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3" name="Google Shape;510;p28"/>
          <p:cNvSpPr/>
          <p:nvPr/>
        </p:nvSpPr>
        <p:spPr>
          <a:xfrm>
            <a:off x="4800600" y="3611880"/>
            <a:ext cx="54360" cy="114264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4" name="Google Shape;511;p28"/>
          <p:cNvSpPr/>
          <p:nvPr/>
        </p:nvSpPr>
        <p:spPr>
          <a:xfrm>
            <a:off x="4983480" y="370332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Audit AI-generated code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Google Shape;512;p28"/>
          <p:cNvSpPr/>
          <p:nvPr/>
        </p:nvSpPr>
        <p:spPr>
          <a:xfrm>
            <a:off x="4983480" y="4050720"/>
            <a:ext cx="3657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rgbClr val="6B7A90"/>
                </a:solidFill>
                <a:effectLst/>
                <a:uFillTx/>
                <a:latin typeface="Calibri"/>
                <a:ea typeface="Calibri"/>
              </a:rPr>
              <a:t>Code generated by AI tools may contain SQLi vulnerabilities. Always review and test generated code before deployment.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518;p29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360" bIns="363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7" name="Google Shape;519;p29"/>
          <p:cNvSpPr/>
          <p:nvPr/>
        </p:nvSpPr>
        <p:spPr>
          <a:xfrm>
            <a:off x="548640" y="3200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0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Key Takeaways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Google Shape;520;p29"/>
          <p:cNvSpPr/>
          <p:nvPr/>
        </p:nvSpPr>
        <p:spPr>
          <a:xfrm>
            <a:off x="548640" y="841320"/>
            <a:ext cx="2285640" cy="2700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3680" bIns="136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9" name="Google Shape;521;p29"/>
          <p:cNvSpPr/>
          <p:nvPr/>
        </p:nvSpPr>
        <p:spPr>
          <a:xfrm>
            <a:off x="548640" y="1005840"/>
            <a:ext cx="8442720" cy="65844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9920" dir="8100000" dist="26474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5760" tIns="47880" rIns="95760" bIns="47880" anchor="t">
            <a:noAutofit/>
          </a:bodyPr>
          <a:p>
            <a:endParaRPr lang="en-US" sz="189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0" name="Google Shape;522;p29"/>
          <p:cNvSpPr/>
          <p:nvPr/>
        </p:nvSpPr>
        <p:spPr>
          <a:xfrm>
            <a:off x="548640" y="1005840"/>
            <a:ext cx="57240" cy="65844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800" tIns="47880" rIns="28800" bIns="47880" anchor="t">
            <a:noAutofit/>
          </a:bodyPr>
          <a:p>
            <a:endParaRPr lang="en-US" sz="189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41" name="Google Shape;523;p29" descr="preencoded.png"/>
          <p:cNvPicPr/>
          <p:nvPr/>
        </p:nvPicPr>
        <p:blipFill>
          <a:blip r:embed="rId1"/>
          <a:stretch/>
        </p:blipFill>
        <p:spPr>
          <a:xfrm>
            <a:off x="788400" y="1115640"/>
            <a:ext cx="33552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2" name="Google Shape;524;p29"/>
          <p:cNvSpPr/>
          <p:nvPr/>
        </p:nvSpPr>
        <p:spPr>
          <a:xfrm>
            <a:off x="1268280" y="1027800"/>
            <a:ext cx="7531560" cy="60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6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SQL Injection is over 25 years old yet remains in the OWASP Top 10 and caused 26% of breaches in 2024.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Google Shape;525;p29"/>
          <p:cNvSpPr/>
          <p:nvPr/>
        </p:nvSpPr>
        <p:spPr>
          <a:xfrm>
            <a:off x="548640" y="1774440"/>
            <a:ext cx="8442720" cy="65844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9920" dir="8100000" dist="26474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5760" tIns="47880" rIns="95760" bIns="47880" anchor="t">
            <a:noAutofit/>
          </a:bodyPr>
          <a:p>
            <a:endParaRPr lang="en-US" sz="189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4" name="Google Shape;526;p29"/>
          <p:cNvSpPr/>
          <p:nvPr/>
        </p:nvSpPr>
        <p:spPr>
          <a:xfrm>
            <a:off x="548640" y="1774440"/>
            <a:ext cx="57240" cy="65844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800" tIns="47880" rIns="28800" bIns="47880" anchor="t">
            <a:noAutofit/>
          </a:bodyPr>
          <a:p>
            <a:endParaRPr lang="en-US" sz="189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45" name="Google Shape;527;p29" descr="preencoded.png"/>
          <p:cNvPicPr/>
          <p:nvPr/>
        </p:nvPicPr>
        <p:blipFill>
          <a:blip r:embed="rId2"/>
          <a:stretch/>
        </p:blipFill>
        <p:spPr>
          <a:xfrm>
            <a:off x="788400" y="1884240"/>
            <a:ext cx="33552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6" name="Google Shape;528;p29"/>
          <p:cNvSpPr/>
          <p:nvPr/>
        </p:nvSpPr>
        <p:spPr>
          <a:xfrm>
            <a:off x="1268280" y="1796400"/>
            <a:ext cx="7531560" cy="60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6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A single vulnerable input field can compromise an entire database, leading to data theft, manipulation, or destruction.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Google Shape;529;p29"/>
          <p:cNvSpPr/>
          <p:nvPr/>
        </p:nvSpPr>
        <p:spPr>
          <a:xfrm>
            <a:off x="548640" y="2542680"/>
            <a:ext cx="8442720" cy="65844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9920" dir="8100000" dist="26474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5760" tIns="47880" rIns="95760" bIns="47880" anchor="t">
            <a:noAutofit/>
          </a:bodyPr>
          <a:p>
            <a:endParaRPr lang="en-US" sz="189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8" name="Google Shape;530;p29"/>
          <p:cNvSpPr/>
          <p:nvPr/>
        </p:nvSpPr>
        <p:spPr>
          <a:xfrm>
            <a:off x="548640" y="2542680"/>
            <a:ext cx="57240" cy="65844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800" tIns="47880" rIns="28800" bIns="47880" anchor="t">
            <a:noAutofit/>
          </a:bodyPr>
          <a:p>
            <a:endParaRPr lang="en-US" sz="189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49" name="Google Shape;531;p29" descr="preencoded.png"/>
          <p:cNvPicPr/>
          <p:nvPr/>
        </p:nvPicPr>
        <p:blipFill>
          <a:blip r:embed="rId3"/>
          <a:stretch/>
        </p:blipFill>
        <p:spPr>
          <a:xfrm>
            <a:off x="788400" y="2652480"/>
            <a:ext cx="33552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0" name="Google Shape;532;p29"/>
          <p:cNvSpPr/>
          <p:nvPr/>
        </p:nvSpPr>
        <p:spPr>
          <a:xfrm>
            <a:off x="1268280" y="2564640"/>
            <a:ext cx="7531560" cy="60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6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Parameterized queries are the most effective defense and should be the standard for all database interactions.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Google Shape;533;p29"/>
          <p:cNvSpPr/>
          <p:nvPr/>
        </p:nvSpPr>
        <p:spPr>
          <a:xfrm>
            <a:off x="548640" y="3311280"/>
            <a:ext cx="8442720" cy="65844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9920" dir="8100000" dist="26474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5760" tIns="47880" rIns="95760" bIns="47880" anchor="t">
            <a:noAutofit/>
          </a:bodyPr>
          <a:p>
            <a:endParaRPr lang="en-US" sz="189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2" name="Google Shape;534;p29"/>
          <p:cNvSpPr/>
          <p:nvPr/>
        </p:nvSpPr>
        <p:spPr>
          <a:xfrm>
            <a:off x="548640" y="3311280"/>
            <a:ext cx="57240" cy="65844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800" tIns="47880" rIns="28800" bIns="47880" anchor="t">
            <a:noAutofit/>
          </a:bodyPr>
          <a:p>
            <a:endParaRPr lang="en-US" sz="189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53" name="Google Shape;535;p29" descr="preencoded.png"/>
          <p:cNvPicPr/>
          <p:nvPr/>
        </p:nvPicPr>
        <p:blipFill>
          <a:blip r:embed="rId4"/>
          <a:stretch/>
        </p:blipFill>
        <p:spPr>
          <a:xfrm>
            <a:off x="788400" y="3421080"/>
            <a:ext cx="33552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4" name="Google Shape;536;p29"/>
          <p:cNvSpPr/>
          <p:nvPr/>
        </p:nvSpPr>
        <p:spPr>
          <a:xfrm>
            <a:off x="1268280" y="3333240"/>
            <a:ext cx="7531560" cy="60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6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Defense in depth is essential: combine prepared statements, input validation, WAFs, least privilege, and security testing.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Google Shape;537;p29"/>
          <p:cNvSpPr/>
          <p:nvPr/>
        </p:nvSpPr>
        <p:spPr>
          <a:xfrm>
            <a:off x="548640" y="4079880"/>
            <a:ext cx="8442720" cy="658440"/>
          </a:xfrm>
          <a:prstGeom prst="rect">
            <a:avLst/>
          </a:prstGeom>
          <a:solidFill>
            <a:srgbClr val="F7F8FA"/>
          </a:solidFill>
          <a:ln w="0">
            <a:noFill/>
          </a:ln>
          <a:effectLst>
            <a:outerShdw algn="bl" blurRad="79920" dir="8100000" dist="26474" rotWithShape="0">
              <a:srgbClr val="9AAFC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5760" tIns="47880" rIns="95760" bIns="47880" anchor="t">
            <a:noAutofit/>
          </a:bodyPr>
          <a:p>
            <a:endParaRPr lang="en-US" sz="189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6" name="Google Shape;538;p29"/>
          <p:cNvSpPr/>
          <p:nvPr/>
        </p:nvSpPr>
        <p:spPr>
          <a:xfrm>
            <a:off x="548640" y="4079880"/>
            <a:ext cx="57240" cy="65844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800" tIns="47880" rIns="28800" bIns="47880" anchor="t">
            <a:noAutofit/>
          </a:bodyPr>
          <a:p>
            <a:endParaRPr lang="en-US" sz="189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57" name="Google Shape;539;p29" descr="preencoded.png"/>
          <p:cNvPicPr/>
          <p:nvPr/>
        </p:nvPicPr>
        <p:blipFill>
          <a:blip r:embed="rId5"/>
          <a:stretch/>
        </p:blipFill>
        <p:spPr>
          <a:xfrm>
            <a:off x="788400" y="4189680"/>
            <a:ext cx="33552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8" name="Google Shape;540;p29"/>
          <p:cNvSpPr/>
          <p:nvPr/>
        </p:nvSpPr>
        <p:spPr>
          <a:xfrm>
            <a:off x="1268280" y="4101840"/>
            <a:ext cx="7531560" cy="60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6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AI-generated code is introducing new SQLi risks. Always audit and test code regardless of its source.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1"/>
          <p:cNvSpPr/>
          <p:nvPr/>
        </p:nvSpPr>
        <p:spPr>
          <a:xfrm>
            <a:off x="457200" y="13716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B2A4A"/>
                </a:solidFill>
                <a:effectLst/>
                <a:uFillTx/>
                <a:latin typeface="Georgia"/>
                <a:ea typeface="Georgia"/>
              </a:rPr>
              <a:t>Group 10 Team Members Contribution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2"/>
          <p:cNvSpPr/>
          <p:nvPr/>
        </p:nvSpPr>
        <p:spPr>
          <a:xfrm>
            <a:off x="457200" y="566640"/>
            <a:ext cx="2286000" cy="360"/>
          </a:xfrm>
          <a:prstGeom prst="line">
            <a:avLst/>
          </a:prstGeom>
          <a:ln w="38100">
            <a:solidFill>
              <a:srgbClr val="0E7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3"/>
          <p:cNvSpPr/>
          <p:nvPr/>
        </p:nvSpPr>
        <p:spPr>
          <a:xfrm>
            <a:off x="365760" y="731520"/>
            <a:ext cx="4114440" cy="529920"/>
          </a:xfrm>
          <a:prstGeom prst="roundRect">
            <a:avLst>
              <a:gd name="adj" fmla="val 10345"/>
            </a:avLst>
          </a:prstGeom>
          <a:solidFill>
            <a:srgbClr val="F7F8FA"/>
          </a:solidFill>
          <a:ln w="635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4"/>
          <p:cNvSpPr/>
          <p:nvPr/>
        </p:nvSpPr>
        <p:spPr>
          <a:xfrm>
            <a:off x="365760" y="731520"/>
            <a:ext cx="36360" cy="5299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Image 0" descr="/sessions/pensive-happy-thompson/photos/Khushi_final.png"/>
          <p:cNvSpPr/>
          <p:nvPr/>
        </p:nvSpPr>
        <p:spPr>
          <a:xfrm>
            <a:off x="502920" y="804600"/>
            <a:ext cx="383760" cy="38376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5"/>
          <p:cNvSpPr/>
          <p:nvPr/>
        </p:nvSpPr>
        <p:spPr>
          <a:xfrm>
            <a:off x="960120" y="777240"/>
            <a:ext cx="3382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Khushi Bawistale</a:t>
            </a:r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    G25AIT2052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6"/>
          <p:cNvSpPr/>
          <p:nvPr/>
        </p:nvSpPr>
        <p:spPr>
          <a:xfrm>
            <a:off x="960120" y="978480"/>
            <a:ext cx="3382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Presentation and demonstration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7"/>
          <p:cNvSpPr/>
          <p:nvPr/>
        </p:nvSpPr>
        <p:spPr>
          <a:xfrm>
            <a:off x="365760" y="1307520"/>
            <a:ext cx="411444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635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8"/>
          <p:cNvSpPr/>
          <p:nvPr/>
        </p:nvSpPr>
        <p:spPr>
          <a:xfrm>
            <a:off x="365760" y="1307520"/>
            <a:ext cx="36360" cy="5299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Image 1" descr="/sessions/pensive-happy-thompson/photos/Soumya.png"/>
          <p:cNvSpPr/>
          <p:nvPr/>
        </p:nvSpPr>
        <p:spPr>
          <a:xfrm>
            <a:off x="502920" y="1380600"/>
            <a:ext cx="383760" cy="38376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9"/>
          <p:cNvSpPr/>
          <p:nvPr/>
        </p:nvSpPr>
        <p:spPr>
          <a:xfrm>
            <a:off x="960120" y="1353240"/>
            <a:ext cx="3382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Soumya A</a:t>
            </a:r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    G25AIT2111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10"/>
          <p:cNvSpPr/>
          <p:nvPr/>
        </p:nvSpPr>
        <p:spPr>
          <a:xfrm>
            <a:off x="960120" y="1554480"/>
            <a:ext cx="3382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Presentation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11"/>
          <p:cNvSpPr/>
          <p:nvPr/>
        </p:nvSpPr>
        <p:spPr>
          <a:xfrm>
            <a:off x="365760" y="1883520"/>
            <a:ext cx="4114440" cy="529920"/>
          </a:xfrm>
          <a:prstGeom prst="roundRect">
            <a:avLst>
              <a:gd name="adj" fmla="val 10345"/>
            </a:avLst>
          </a:prstGeom>
          <a:solidFill>
            <a:srgbClr val="F7F8FA"/>
          </a:solidFill>
          <a:ln w="635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12"/>
          <p:cNvSpPr/>
          <p:nvPr/>
        </p:nvSpPr>
        <p:spPr>
          <a:xfrm>
            <a:off x="365760" y="1883520"/>
            <a:ext cx="36360" cy="5299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Image 2" descr="/sessions/pensive-happy-thompson/photos/Shashank.png"/>
          <p:cNvSpPr/>
          <p:nvPr/>
        </p:nvSpPr>
        <p:spPr>
          <a:xfrm>
            <a:off x="502920" y="1956960"/>
            <a:ext cx="383760" cy="383760"/>
          </a:xfrm>
          <a:prstGeom prst="ellipse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13"/>
          <p:cNvSpPr/>
          <p:nvPr/>
        </p:nvSpPr>
        <p:spPr>
          <a:xfrm>
            <a:off x="960120" y="1929240"/>
            <a:ext cx="3382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Shashank Jangid</a:t>
            </a:r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    G25AIT2100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14"/>
          <p:cNvSpPr/>
          <p:nvPr/>
        </p:nvSpPr>
        <p:spPr>
          <a:xfrm>
            <a:off x="960120" y="2130480"/>
            <a:ext cx="3382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Demonstration of Inband SQLi injection and Presentation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15"/>
          <p:cNvSpPr/>
          <p:nvPr/>
        </p:nvSpPr>
        <p:spPr>
          <a:xfrm>
            <a:off x="365760" y="2459880"/>
            <a:ext cx="411444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635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16"/>
          <p:cNvSpPr/>
          <p:nvPr/>
        </p:nvSpPr>
        <p:spPr>
          <a:xfrm>
            <a:off x="365760" y="2459880"/>
            <a:ext cx="36360" cy="5299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Image 3" descr="/sessions/pensive-happy-thompson/photos/Rajath_full.png"/>
          <p:cNvSpPr/>
          <p:nvPr/>
        </p:nvSpPr>
        <p:spPr>
          <a:xfrm>
            <a:off x="502920" y="2532960"/>
            <a:ext cx="383760" cy="383760"/>
          </a:xfrm>
          <a:prstGeom prst="ellipse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17"/>
          <p:cNvSpPr/>
          <p:nvPr/>
        </p:nvSpPr>
        <p:spPr>
          <a:xfrm>
            <a:off x="960120" y="2505600"/>
            <a:ext cx="3382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Rajath S M</a:t>
            </a:r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    G25AIT2079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18"/>
          <p:cNvSpPr/>
          <p:nvPr/>
        </p:nvSpPr>
        <p:spPr>
          <a:xfrm>
            <a:off x="960120" y="2706480"/>
            <a:ext cx="3382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Demonstration of Blind, UNION, OOB SQLi injection and Presentation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19"/>
          <p:cNvSpPr/>
          <p:nvPr/>
        </p:nvSpPr>
        <p:spPr>
          <a:xfrm>
            <a:off x="4663440" y="731520"/>
            <a:ext cx="4114440" cy="529920"/>
          </a:xfrm>
          <a:prstGeom prst="roundRect">
            <a:avLst>
              <a:gd name="adj" fmla="val 10345"/>
            </a:avLst>
          </a:prstGeom>
          <a:solidFill>
            <a:srgbClr val="F7F8FA"/>
          </a:solidFill>
          <a:ln w="635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20"/>
          <p:cNvSpPr/>
          <p:nvPr/>
        </p:nvSpPr>
        <p:spPr>
          <a:xfrm>
            <a:off x="4663440" y="731520"/>
            <a:ext cx="36360" cy="5299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Image 4" descr="/sessions/pensive-happy-thompson/photos/Siddhant.png"/>
          <p:cNvSpPr/>
          <p:nvPr/>
        </p:nvSpPr>
        <p:spPr>
          <a:xfrm>
            <a:off x="4800600" y="804600"/>
            <a:ext cx="383760" cy="383760"/>
          </a:xfrm>
          <a:prstGeom prst="ellipse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21"/>
          <p:cNvSpPr/>
          <p:nvPr/>
        </p:nvSpPr>
        <p:spPr>
          <a:xfrm>
            <a:off x="5257800" y="777240"/>
            <a:ext cx="3382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Siddhant Singh</a:t>
            </a:r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    G25AIT2105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22"/>
          <p:cNvSpPr/>
          <p:nvPr/>
        </p:nvSpPr>
        <p:spPr>
          <a:xfrm>
            <a:off x="5257800" y="978480"/>
            <a:ext cx="3382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Demonstration and Presentation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23"/>
          <p:cNvSpPr/>
          <p:nvPr/>
        </p:nvSpPr>
        <p:spPr>
          <a:xfrm>
            <a:off x="4663440" y="1307520"/>
            <a:ext cx="411444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635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24"/>
          <p:cNvSpPr/>
          <p:nvPr/>
        </p:nvSpPr>
        <p:spPr>
          <a:xfrm>
            <a:off x="4663440" y="1307520"/>
            <a:ext cx="36360" cy="5299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Image 5" descr="/sessions/pensive-happy-thompson/photos/Deepanshu.png"/>
          <p:cNvSpPr/>
          <p:nvPr/>
        </p:nvSpPr>
        <p:spPr>
          <a:xfrm>
            <a:off x="4800600" y="1380600"/>
            <a:ext cx="383760" cy="383760"/>
          </a:xfrm>
          <a:prstGeom prst="ellipse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25"/>
          <p:cNvSpPr/>
          <p:nvPr/>
        </p:nvSpPr>
        <p:spPr>
          <a:xfrm>
            <a:off x="5257800" y="1353240"/>
            <a:ext cx="3382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Deepanshu Arora</a:t>
            </a:r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    G25AIT2029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26"/>
          <p:cNvSpPr/>
          <p:nvPr/>
        </p:nvSpPr>
        <p:spPr>
          <a:xfrm>
            <a:off x="5257800" y="1554480"/>
            <a:ext cx="3382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Presentation and demo discussion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27"/>
          <p:cNvSpPr/>
          <p:nvPr/>
        </p:nvSpPr>
        <p:spPr>
          <a:xfrm>
            <a:off x="4663440" y="1883520"/>
            <a:ext cx="4114440" cy="529920"/>
          </a:xfrm>
          <a:prstGeom prst="roundRect">
            <a:avLst>
              <a:gd name="adj" fmla="val 10345"/>
            </a:avLst>
          </a:prstGeom>
          <a:solidFill>
            <a:srgbClr val="F7F8FA"/>
          </a:solidFill>
          <a:ln w="635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28"/>
          <p:cNvSpPr/>
          <p:nvPr/>
        </p:nvSpPr>
        <p:spPr>
          <a:xfrm>
            <a:off x="4663440" y="1883520"/>
            <a:ext cx="36360" cy="5299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Image 6" descr="/sessions/pensive-happy-thompson/photos/Tirth_v5.png"/>
          <p:cNvSpPr/>
          <p:nvPr/>
        </p:nvSpPr>
        <p:spPr>
          <a:xfrm>
            <a:off x="4800600" y="1956960"/>
            <a:ext cx="383760" cy="383760"/>
          </a:xfrm>
          <a:prstGeom prst="ellipse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29"/>
          <p:cNvSpPr/>
          <p:nvPr/>
        </p:nvSpPr>
        <p:spPr>
          <a:xfrm>
            <a:off x="5257800" y="1929240"/>
            <a:ext cx="3382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Shah Tirth R.</a:t>
            </a:r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    G25AIT2121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30"/>
          <p:cNvSpPr/>
          <p:nvPr/>
        </p:nvSpPr>
        <p:spPr>
          <a:xfrm>
            <a:off x="5257800" y="2130480"/>
            <a:ext cx="3382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Presentation and hands on experience discussion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31"/>
          <p:cNvSpPr/>
          <p:nvPr/>
        </p:nvSpPr>
        <p:spPr>
          <a:xfrm>
            <a:off x="365760" y="4160520"/>
            <a:ext cx="8412120" cy="50256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32"/>
          <p:cNvSpPr/>
          <p:nvPr/>
        </p:nvSpPr>
        <p:spPr>
          <a:xfrm>
            <a:off x="548640" y="4160520"/>
            <a:ext cx="8046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Thank You!  </a:t>
            </a: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  |  Questions are welcome  —  Cyber Security  |  IIT Jodhpur  -  Team 10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33"/>
          <p:cNvSpPr/>
          <p:nvPr/>
        </p:nvSpPr>
        <p:spPr>
          <a:xfrm>
            <a:off x="0" y="5070240"/>
            <a:ext cx="9143640" cy="72720"/>
          </a:xfrm>
          <a:prstGeom prst="rect">
            <a:avLst/>
          </a:prstGeom>
          <a:solidFill>
            <a:srgbClr val="0E7C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LibreOffice/26.2.2.2$Linux_AARCH64 LibreOffice_project/620$Build-2</Application>
  <AppVersion>15.0000</AppVersion>
  <Words>1699</Words>
  <Paragraphs>251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>Microsoft Office User</cp:lastModifiedBy>
  <dcterms:modified xsi:type="dcterms:W3CDTF">2026-05-31T15:49:18Z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14</vt:r8>
  </property>
  <property fmtid="{D5CDD505-2E9C-101B-9397-08002B2CF9AE}" pid="3" name="PresentationFormat">
    <vt:lpwstr>On-screen Show (16:9)</vt:lpwstr>
  </property>
  <property fmtid="{D5CDD505-2E9C-101B-9397-08002B2CF9AE}" pid="4" name="Slides">
    <vt:r8>17</vt:r8>
  </property>
</Properties>
</file>